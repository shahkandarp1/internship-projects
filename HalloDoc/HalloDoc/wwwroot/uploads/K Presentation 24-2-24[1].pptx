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93" r:id="rId2"/>
    <p:sldId id="256" r:id="rId3"/>
    <p:sldId id="284" r:id="rId4"/>
    <p:sldId id="279" r:id="rId5"/>
    <p:sldId id="306" r:id="rId6"/>
    <p:sldId id="296" r:id="rId7"/>
    <p:sldId id="282" r:id="rId8"/>
    <p:sldId id="285" r:id="rId9"/>
    <p:sldId id="302" r:id="rId10"/>
    <p:sldId id="303" r:id="rId11"/>
    <p:sldId id="304" r:id="rId12"/>
    <p:sldId id="305" r:id="rId13"/>
    <p:sldId id="298" r:id="rId14"/>
    <p:sldId id="297" r:id="rId15"/>
    <p:sldId id="300" r:id="rId16"/>
    <p:sldId id="301" r:id="rId17"/>
    <p:sldId id="28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47" d="100"/>
          <a:sy n="47" d="100"/>
        </p:scale>
        <p:origin x="1416" y="5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C9D89B-BA68-4483-B8B8-1905034BD512}" type="datetimeFigureOut">
              <a:rPr lang="en-IN" smtClean="0"/>
              <a:t>23-02-2024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C3D943-83BF-43A2-ABBC-AA6977E00E5B}" type="slidenum">
              <a:rPr lang="en-IN" smtClean="0"/>
              <a:t>‹#›</a:t>
            </a:fld>
            <a:endParaRPr lang="en-IN"/>
          </a:p>
        </p:txBody>
      </p:sp>
    </p:spTree>
    <p:extLst>
      <p:ext uri="{BB962C8B-B14F-4D97-AF65-F5344CB8AC3E}">
        <p14:creationId xmlns:p14="http://schemas.microsoft.com/office/powerpoint/2010/main" val="1858741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ac3b82a7dd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ac3b82a7dd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921F-4B6F-C972-60C7-7888FEA489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7177FA-8F92-0050-C21B-54B6DDB0F9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28EAB6-1E92-D4E3-3148-64E6B2E743EB}"/>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5" name="Footer Placeholder 4">
            <a:extLst>
              <a:ext uri="{FF2B5EF4-FFF2-40B4-BE49-F238E27FC236}">
                <a16:creationId xmlns:a16="http://schemas.microsoft.com/office/drawing/2014/main" id="{4A293E31-F504-31AA-A447-250BD9B705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20E30-1953-7CA2-6E68-EAA89317FB56}"/>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1889407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A3BF-424B-4BAC-BFCB-FCBBDCB325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D696A8-1CBD-3179-DE01-6A4585181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AB36A0-4076-CB05-EAA0-184A28EA9227}"/>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5" name="Footer Placeholder 4">
            <a:extLst>
              <a:ext uri="{FF2B5EF4-FFF2-40B4-BE49-F238E27FC236}">
                <a16:creationId xmlns:a16="http://schemas.microsoft.com/office/drawing/2014/main" id="{2A197BD5-9FA7-8C29-237C-53FE5C5455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DDBC22-C262-7848-D9C7-C0753AA96C53}"/>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6979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4BF4-5FBC-A9B3-3D0B-22F11442ED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1A049-5DFC-6D24-DBE7-0F105C9D92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AE5A9D-DDB3-7FE4-9616-25BEFC656621}"/>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5" name="Footer Placeholder 4">
            <a:extLst>
              <a:ext uri="{FF2B5EF4-FFF2-40B4-BE49-F238E27FC236}">
                <a16:creationId xmlns:a16="http://schemas.microsoft.com/office/drawing/2014/main" id="{D6019174-EFAD-5CCC-2880-6C102AA582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079349-D9F7-48FC-7734-60FCAB145461}"/>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74368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BA42E-DD89-E7F3-4353-784E5FFD0B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95C677-3B37-24E7-ECDF-9E9EF8C620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087407-CFC0-777F-2B7E-B7AC6E4672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B93E3A-345E-94E9-D588-C43C0EA70BDA}"/>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6" name="Footer Placeholder 5">
            <a:extLst>
              <a:ext uri="{FF2B5EF4-FFF2-40B4-BE49-F238E27FC236}">
                <a16:creationId xmlns:a16="http://schemas.microsoft.com/office/drawing/2014/main" id="{9F3A6191-3EBC-882A-45EA-1F895FAD48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7349AB-3DB0-341D-C902-6DD3839D8018}"/>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2031733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3664-AD5A-72FE-022E-AAFEE89E54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96F163-FCCD-FFEF-5C8D-B42B4D551F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38AF01-D861-458D-BCF9-A787D18E8A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FFA8EA-0DF6-B79E-9819-92387A0F0F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79F1A5-D1D8-71C3-BC52-29A7AFAE16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F53827-C1B6-4F92-E762-7A3C1F42D1AA}"/>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8" name="Footer Placeholder 7">
            <a:extLst>
              <a:ext uri="{FF2B5EF4-FFF2-40B4-BE49-F238E27FC236}">
                <a16:creationId xmlns:a16="http://schemas.microsoft.com/office/drawing/2014/main" id="{D8504B22-CC37-D864-E72C-59B3DADF11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A623CB-AA12-AD85-9689-162F87FC6F5F}"/>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303589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41B6-5584-DE8C-48D8-41A64AA1CAE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E346B15-07BB-E69D-3289-4297F39DD089}"/>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4" name="Footer Placeholder 3">
            <a:extLst>
              <a:ext uri="{FF2B5EF4-FFF2-40B4-BE49-F238E27FC236}">
                <a16:creationId xmlns:a16="http://schemas.microsoft.com/office/drawing/2014/main" id="{12F36A99-B56D-1E7D-586A-3B50215E3BC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E0E763F-96FD-F359-1DAD-68FF1F4DCFE4}"/>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626804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13AD40-D389-DE48-2A22-0C2542974FAA}"/>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3" name="Footer Placeholder 2">
            <a:extLst>
              <a:ext uri="{FF2B5EF4-FFF2-40B4-BE49-F238E27FC236}">
                <a16:creationId xmlns:a16="http://schemas.microsoft.com/office/drawing/2014/main" id="{73B8AAED-6983-B118-A6D5-870D2D21E9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08F683E-9CB6-C487-C236-6192A7CB0F01}"/>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302302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32E87-BF57-E13B-FDDC-15EDB0A9A0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B4AC91-FF3C-406E-7F1A-4AB638F33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E8A61C-E7C4-3050-CB1D-5F0079D34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F482C8-7E80-F374-18EF-52311702AA96}"/>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6" name="Footer Placeholder 5">
            <a:extLst>
              <a:ext uri="{FF2B5EF4-FFF2-40B4-BE49-F238E27FC236}">
                <a16:creationId xmlns:a16="http://schemas.microsoft.com/office/drawing/2014/main" id="{4CAE8903-5892-E7D7-E03D-E740BF2868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5DAF0A-B9A4-7BFB-46FF-8B7353829290}"/>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3905214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7BBA1-A905-FD62-DDD6-77B54E01FE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DD6EE-4A2D-CCF1-F168-03528466E6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3E1E99-5272-93E7-E2DE-848ECDA612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2E9C94-1168-80B4-C1A3-79154F466243}"/>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6" name="Footer Placeholder 5">
            <a:extLst>
              <a:ext uri="{FF2B5EF4-FFF2-40B4-BE49-F238E27FC236}">
                <a16:creationId xmlns:a16="http://schemas.microsoft.com/office/drawing/2014/main" id="{6CF54044-4FAD-1711-DACA-BD285EDA5E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2F6F71-EC85-C9D1-FBCB-B7B80D628B00}"/>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1309902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43493-1EFC-E0F3-54B4-47799D2B0E0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3935B1-F2BB-3E40-133C-7312B84A28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928A67-A531-4B3C-EACF-D71F2AE99A6C}"/>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5" name="Footer Placeholder 4">
            <a:extLst>
              <a:ext uri="{FF2B5EF4-FFF2-40B4-BE49-F238E27FC236}">
                <a16:creationId xmlns:a16="http://schemas.microsoft.com/office/drawing/2014/main" id="{0C1536E0-016F-CCCA-2D86-B027314A6D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02FADF-1F0E-8E8B-FCCA-EDC44845F7CC}"/>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1560619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678E8F-98C4-57A0-0A85-0F7CDED845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98F90B-D4EF-B00E-B351-0A057D277D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548461-1388-09EB-654D-A42000DF981F}"/>
              </a:ext>
            </a:extLst>
          </p:cNvPr>
          <p:cNvSpPr>
            <a:spLocks noGrp="1"/>
          </p:cNvSpPr>
          <p:nvPr>
            <p:ph type="dt" sz="half" idx="10"/>
          </p:nvPr>
        </p:nvSpPr>
        <p:spPr/>
        <p:txBody>
          <a:bodyPr/>
          <a:lstStyle/>
          <a:p>
            <a:fld id="{E0204D7A-D035-4BF9-9B2F-97890F6EC944}" type="datetimeFigureOut">
              <a:rPr lang="en-IN" smtClean="0"/>
              <a:t>23-02-2024</a:t>
            </a:fld>
            <a:endParaRPr lang="en-IN"/>
          </a:p>
        </p:txBody>
      </p:sp>
      <p:sp>
        <p:nvSpPr>
          <p:cNvPr id="5" name="Footer Placeholder 4">
            <a:extLst>
              <a:ext uri="{FF2B5EF4-FFF2-40B4-BE49-F238E27FC236}">
                <a16:creationId xmlns:a16="http://schemas.microsoft.com/office/drawing/2014/main" id="{CDF1C482-CDF8-3C3E-E771-490049B09C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BAAA67-3379-2552-CA39-4A131FFCC1C5}"/>
              </a:ext>
            </a:extLst>
          </p:cNvPr>
          <p:cNvSpPr>
            <a:spLocks noGrp="1"/>
          </p:cNvSpPr>
          <p:nvPr>
            <p:ph type="sldNum" sz="quarter" idx="12"/>
          </p:nvPr>
        </p:nvSpPr>
        <p:spPr/>
        <p:txBody>
          <a:bodyPr/>
          <a:lstStyle/>
          <a:p>
            <a:fld id="{3032886E-1C71-4F65-8E18-BA3339D6691F}" type="slidenum">
              <a:rPr lang="en-IN" smtClean="0"/>
              <a:t>‹#›</a:t>
            </a:fld>
            <a:endParaRPr lang="en-IN"/>
          </a:p>
        </p:txBody>
      </p:sp>
    </p:spTree>
    <p:extLst>
      <p:ext uri="{BB962C8B-B14F-4D97-AF65-F5344CB8AC3E}">
        <p14:creationId xmlns:p14="http://schemas.microsoft.com/office/powerpoint/2010/main" val="3942294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541371"/>
            <a:ext cx="10363201" cy="6093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2/23/2024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75872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2E9B33-828E-C426-AF92-EC476F8621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653989-2DD8-B059-D2C8-C470A50E10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8C5E14-6893-5CEE-1634-CDE194A939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204D7A-D035-4BF9-9B2F-97890F6EC944}" type="datetimeFigureOut">
              <a:rPr lang="en-IN" smtClean="0"/>
              <a:t>23-02-2024</a:t>
            </a:fld>
            <a:endParaRPr lang="en-IN"/>
          </a:p>
        </p:txBody>
      </p:sp>
      <p:sp>
        <p:nvSpPr>
          <p:cNvPr id="5" name="Footer Placeholder 4">
            <a:extLst>
              <a:ext uri="{FF2B5EF4-FFF2-40B4-BE49-F238E27FC236}">
                <a16:creationId xmlns:a16="http://schemas.microsoft.com/office/drawing/2014/main" id="{A408C5EC-9531-C268-B29E-7100C3AA4D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A5C6A89-B5DF-71A9-B1A6-C095F95E55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32886E-1C71-4F65-8E18-BA3339D6691F}" type="slidenum">
              <a:rPr lang="en-IN" smtClean="0"/>
              <a:t>‹#›</a:t>
            </a:fld>
            <a:endParaRPr lang="en-IN"/>
          </a:p>
        </p:txBody>
      </p:sp>
    </p:spTree>
    <p:extLst>
      <p:ext uri="{BB962C8B-B14F-4D97-AF65-F5344CB8AC3E}">
        <p14:creationId xmlns:p14="http://schemas.microsoft.com/office/powerpoint/2010/main" val="312318248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www.tatvasoft.com/"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subTitle" idx="1"/>
          </p:nvPr>
        </p:nvSpPr>
        <p:spPr>
          <a:xfrm>
            <a:off x="2700193" y="259700"/>
            <a:ext cx="6791600" cy="870800"/>
          </a:xfrm>
          <a:prstGeom prst="rect">
            <a:avLst/>
          </a:prstGeom>
        </p:spPr>
        <p:txBody>
          <a:bodyPr spcFirstLastPara="1" vert="horz" wrap="square" lIns="121900" tIns="121900" rIns="121900" bIns="121900" rtlCol="0" anchor="t" anchorCtr="0">
            <a:noAutofit/>
          </a:bodyPr>
          <a:lstStyle/>
          <a:p>
            <a:pPr>
              <a:lnSpc>
                <a:spcPct val="115000"/>
              </a:lnSpc>
              <a:spcBef>
                <a:spcPts val="0"/>
              </a:spcBef>
              <a:buSzPts val="935"/>
            </a:pPr>
            <a:r>
              <a:rPr lang="en" sz="2372" dirty="0">
                <a:latin typeface="Times New Roman"/>
                <a:ea typeface="Times New Roman"/>
                <a:cs typeface="Times New Roman"/>
                <a:sym typeface="Times New Roman"/>
              </a:rPr>
              <a:t>G H Patel College of Engineering &amp; Technology</a:t>
            </a:r>
            <a:r>
              <a:rPr lang="en-US" sz="2372" dirty="0">
                <a:latin typeface="Times New Roman"/>
                <a:ea typeface="Times New Roman"/>
                <a:cs typeface="Times New Roman"/>
                <a:sym typeface="Times New Roman"/>
              </a:rPr>
              <a:t>     (A Constituent College of CVM University)</a:t>
            </a:r>
          </a:p>
        </p:txBody>
      </p:sp>
      <p:pic>
        <p:nvPicPr>
          <p:cNvPr id="87" name="Google Shape;87;p13"/>
          <p:cNvPicPr preferRelativeResize="0"/>
          <p:nvPr/>
        </p:nvPicPr>
        <p:blipFill>
          <a:blip r:embed="rId3">
            <a:alphaModFix/>
          </a:blip>
          <a:stretch>
            <a:fillRect/>
          </a:stretch>
        </p:blipFill>
        <p:spPr>
          <a:xfrm>
            <a:off x="-286100" y="-519147"/>
            <a:ext cx="2689632" cy="2688297"/>
          </a:xfrm>
          <a:prstGeom prst="rect">
            <a:avLst/>
          </a:prstGeom>
          <a:noFill/>
          <a:ln>
            <a:noFill/>
          </a:ln>
        </p:spPr>
      </p:pic>
      <p:pic>
        <p:nvPicPr>
          <p:cNvPr id="88" name="Google Shape;88;p13"/>
          <p:cNvPicPr preferRelativeResize="0"/>
          <p:nvPr/>
        </p:nvPicPr>
        <p:blipFill>
          <a:blip r:embed="rId4">
            <a:alphaModFix/>
          </a:blip>
          <a:stretch>
            <a:fillRect/>
          </a:stretch>
        </p:blipFill>
        <p:spPr>
          <a:xfrm>
            <a:off x="10222467" y="65867"/>
            <a:ext cx="1697300" cy="1518267"/>
          </a:xfrm>
          <a:prstGeom prst="rect">
            <a:avLst/>
          </a:prstGeom>
          <a:noFill/>
          <a:ln>
            <a:noFill/>
          </a:ln>
        </p:spPr>
      </p:pic>
      <p:sp>
        <p:nvSpPr>
          <p:cNvPr id="89" name="Google Shape;89;p13"/>
          <p:cNvSpPr txBox="1"/>
          <p:nvPr/>
        </p:nvSpPr>
        <p:spPr>
          <a:xfrm>
            <a:off x="4095993" y="1395768"/>
            <a:ext cx="4000000" cy="615513"/>
          </a:xfrm>
          <a:prstGeom prst="rect">
            <a:avLst/>
          </a:prstGeom>
          <a:noFill/>
          <a:ln>
            <a:noFill/>
          </a:ln>
        </p:spPr>
        <p:txBody>
          <a:bodyPr spcFirstLastPara="1" wrap="square" lIns="121900" tIns="121900" rIns="121900" bIns="121900" anchor="t" anchorCtr="0">
            <a:spAutoFit/>
          </a:bodyPr>
          <a:lstStyle/>
          <a:p>
            <a:pPr algn="ctr"/>
            <a:r>
              <a:rPr lang="en" sz="2400" b="1" dirty="0">
                <a:latin typeface="Times New Roman"/>
                <a:ea typeface="Times New Roman"/>
                <a:cs typeface="Times New Roman"/>
                <a:sym typeface="Times New Roman"/>
              </a:rPr>
              <a:t>Subject Code: 102000801</a:t>
            </a:r>
            <a:endParaRPr sz="2400" b="1" dirty="0">
              <a:latin typeface="Times New Roman"/>
              <a:ea typeface="Times New Roman"/>
              <a:cs typeface="Times New Roman"/>
              <a:sym typeface="Times New Roman"/>
            </a:endParaRPr>
          </a:p>
        </p:txBody>
      </p:sp>
      <p:sp>
        <p:nvSpPr>
          <p:cNvPr id="90" name="Google Shape;90;p13"/>
          <p:cNvSpPr txBox="1"/>
          <p:nvPr/>
        </p:nvSpPr>
        <p:spPr>
          <a:xfrm>
            <a:off x="5156793" y="2020467"/>
            <a:ext cx="1878400" cy="533600"/>
          </a:xfrm>
          <a:prstGeom prst="rect">
            <a:avLst/>
          </a:prstGeom>
          <a:noFill/>
          <a:ln>
            <a:noFill/>
          </a:ln>
        </p:spPr>
        <p:txBody>
          <a:bodyPr spcFirstLastPara="1" wrap="square" lIns="121900" tIns="121900" rIns="121900" bIns="121900" anchor="t" anchorCtr="0">
            <a:noAutofit/>
          </a:bodyPr>
          <a:lstStyle/>
          <a:p>
            <a:r>
              <a:rPr lang="en" sz="2267" dirty="0">
                <a:solidFill>
                  <a:schemeClr val="dk2"/>
                </a:solidFill>
                <a:latin typeface="Times New Roman"/>
                <a:ea typeface="Times New Roman"/>
                <a:cs typeface="Times New Roman"/>
                <a:sym typeface="Times New Roman"/>
              </a:rPr>
              <a:t>Internship At</a:t>
            </a:r>
            <a:endParaRPr sz="2267" dirty="0">
              <a:solidFill>
                <a:schemeClr val="dk2"/>
              </a:solidFill>
              <a:latin typeface="Times New Roman"/>
              <a:ea typeface="Times New Roman"/>
              <a:cs typeface="Times New Roman"/>
              <a:sym typeface="Times New Roman"/>
            </a:endParaRPr>
          </a:p>
        </p:txBody>
      </p:sp>
      <p:sp>
        <p:nvSpPr>
          <p:cNvPr id="91" name="Google Shape;91;p13"/>
          <p:cNvSpPr txBox="1"/>
          <p:nvPr/>
        </p:nvSpPr>
        <p:spPr>
          <a:xfrm>
            <a:off x="1786752" y="4242900"/>
            <a:ext cx="8618483" cy="2249200"/>
          </a:xfrm>
          <a:prstGeom prst="rect">
            <a:avLst/>
          </a:prstGeom>
          <a:noFill/>
          <a:ln>
            <a:noFill/>
          </a:ln>
        </p:spPr>
        <p:txBody>
          <a:bodyPr spcFirstLastPara="1" wrap="square" lIns="121900" tIns="121900" rIns="121900" bIns="121900" anchor="t" anchorCtr="0">
            <a:noAutofit/>
          </a:bodyPr>
          <a:lstStyle/>
          <a:p>
            <a:pPr algn="ctr">
              <a:lnSpc>
                <a:spcPct val="115000"/>
              </a:lnSpc>
            </a:pPr>
            <a:r>
              <a:rPr lang="en" sz="2267" b="1" dirty="0">
                <a:solidFill>
                  <a:srgbClr val="172B4D"/>
                </a:solidFill>
                <a:highlight>
                  <a:srgbClr val="FFFFFF"/>
                </a:highlight>
                <a:latin typeface="Times New Roman"/>
                <a:ea typeface="Times New Roman"/>
                <a:cs typeface="Times New Roman"/>
                <a:sym typeface="Times New Roman"/>
              </a:rPr>
              <a:t>Project Title : HalloDoc – Consultation and Diagnostic Platform</a:t>
            </a:r>
            <a:endParaRPr sz="2267" b="1" dirty="0">
              <a:solidFill>
                <a:srgbClr val="172B4D"/>
              </a:solidFill>
              <a:highlight>
                <a:srgbClr val="FFFFFF"/>
              </a:highlight>
              <a:latin typeface="Times New Roman"/>
              <a:ea typeface="Times New Roman"/>
              <a:cs typeface="Times New Roman"/>
              <a:sym typeface="Times New Roman"/>
            </a:endParaRPr>
          </a:p>
          <a:p>
            <a:pPr algn="ctr">
              <a:lnSpc>
                <a:spcPct val="115000"/>
              </a:lnSpc>
            </a:pPr>
            <a:r>
              <a:rPr lang="en" sz="2267" dirty="0">
                <a:solidFill>
                  <a:schemeClr val="dk2"/>
                </a:solidFill>
                <a:latin typeface="Times New Roman"/>
                <a:ea typeface="Times New Roman"/>
                <a:cs typeface="Times New Roman"/>
                <a:sym typeface="Times New Roman"/>
              </a:rPr>
              <a:t>Name : Karmadipsinh Solanki</a:t>
            </a:r>
            <a:endParaRPr sz="2267" dirty="0">
              <a:solidFill>
                <a:schemeClr val="dk2"/>
              </a:solidFill>
              <a:latin typeface="Times New Roman"/>
              <a:ea typeface="Times New Roman"/>
              <a:cs typeface="Times New Roman"/>
              <a:sym typeface="Times New Roman"/>
            </a:endParaRPr>
          </a:p>
          <a:p>
            <a:pPr algn="ctr">
              <a:lnSpc>
                <a:spcPct val="115000"/>
              </a:lnSpc>
            </a:pPr>
            <a:r>
              <a:rPr lang="en" sz="2133" dirty="0">
                <a:solidFill>
                  <a:schemeClr val="dk2"/>
                </a:solidFill>
                <a:latin typeface="Times New Roman"/>
                <a:ea typeface="Times New Roman"/>
                <a:cs typeface="Times New Roman"/>
                <a:sym typeface="Times New Roman"/>
              </a:rPr>
              <a:t>Enrollment No. : 12002040501025</a:t>
            </a:r>
            <a:endParaRPr sz="2133" dirty="0">
              <a:solidFill>
                <a:schemeClr val="dk2"/>
              </a:solidFill>
              <a:latin typeface="Times New Roman"/>
              <a:ea typeface="Times New Roman"/>
              <a:cs typeface="Times New Roman"/>
              <a:sym typeface="Times New Roman"/>
            </a:endParaRPr>
          </a:p>
          <a:p>
            <a:pPr algn="ctr">
              <a:lnSpc>
                <a:spcPct val="115000"/>
              </a:lnSpc>
            </a:pPr>
            <a:r>
              <a:rPr lang="en" sz="2133" dirty="0">
                <a:solidFill>
                  <a:schemeClr val="dk2"/>
                </a:solidFill>
                <a:latin typeface="Times New Roman"/>
                <a:ea typeface="Times New Roman"/>
                <a:cs typeface="Times New Roman"/>
                <a:sym typeface="Times New Roman"/>
              </a:rPr>
              <a:t>Internship Guide : Sweety Patel</a:t>
            </a:r>
            <a:endParaRPr sz="2133" dirty="0">
              <a:solidFill>
                <a:schemeClr val="dk2"/>
              </a:solidFill>
              <a:latin typeface="Times New Roman"/>
              <a:ea typeface="Times New Roman"/>
              <a:cs typeface="Times New Roman"/>
              <a:sym typeface="Times New Roman"/>
            </a:endParaRPr>
          </a:p>
          <a:p>
            <a:pPr algn="ctr">
              <a:lnSpc>
                <a:spcPct val="115000"/>
              </a:lnSpc>
            </a:pPr>
            <a:r>
              <a:rPr lang="en" sz="2133" dirty="0">
                <a:solidFill>
                  <a:schemeClr val="dk2"/>
                </a:solidFill>
                <a:latin typeface="Times New Roman"/>
                <a:ea typeface="Times New Roman"/>
                <a:cs typeface="Times New Roman"/>
                <a:sym typeface="Times New Roman"/>
              </a:rPr>
              <a:t>College Guide : Prof. Khyati Mehta</a:t>
            </a:r>
            <a:endParaRPr sz="2133" dirty="0">
              <a:solidFill>
                <a:schemeClr val="dk2"/>
              </a:solidFill>
              <a:latin typeface="Times New Roman"/>
              <a:ea typeface="Times New Roman"/>
              <a:cs typeface="Times New Roman"/>
              <a:sym typeface="Times New Roman"/>
            </a:endParaRPr>
          </a:p>
        </p:txBody>
      </p:sp>
      <p:sp>
        <p:nvSpPr>
          <p:cNvPr id="93" name="Google Shape;93;p13"/>
          <p:cNvSpPr txBox="1"/>
          <p:nvPr/>
        </p:nvSpPr>
        <p:spPr>
          <a:xfrm>
            <a:off x="800333" y="1490500"/>
            <a:ext cx="2088000" cy="304400"/>
          </a:xfrm>
          <a:prstGeom prst="rect">
            <a:avLst/>
          </a:prstGeom>
          <a:solidFill>
            <a:schemeClr val="lt1"/>
          </a:solidFill>
          <a:ln>
            <a:noFill/>
          </a:ln>
        </p:spPr>
        <p:txBody>
          <a:bodyPr spcFirstLastPara="1" wrap="square" lIns="121900" tIns="121900" rIns="121900" bIns="121900" anchor="t" anchorCtr="0">
            <a:noAutofit/>
          </a:bodyPr>
          <a:lstStyle/>
          <a:p>
            <a:endParaRPr sz="1733">
              <a:solidFill>
                <a:schemeClr val="accent1"/>
              </a:solidFill>
              <a:latin typeface="Lato"/>
              <a:ea typeface="Lato"/>
              <a:cs typeface="Lato"/>
              <a:sym typeface="Lato"/>
            </a:endParaRPr>
          </a:p>
        </p:txBody>
      </p:sp>
      <p:pic>
        <p:nvPicPr>
          <p:cNvPr id="1026" name="Picture 2" descr="Tatvasoft | Drupal.org">
            <a:extLst>
              <a:ext uri="{FF2B5EF4-FFF2-40B4-BE49-F238E27FC236}">
                <a16:creationId xmlns:a16="http://schemas.microsoft.com/office/drawing/2014/main" id="{B443E1E1-8253-7782-7C74-8CE004DC3C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1244" y="2362677"/>
            <a:ext cx="2109513" cy="21095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39A1783-37D3-611D-15C5-A72622826FD6}"/>
              </a:ext>
            </a:extLst>
          </p:cNvPr>
          <p:cNvSpPr>
            <a:spLocks noGrp="1"/>
          </p:cNvSpPr>
          <p:nvPr>
            <p:ph type="ctrTitle"/>
          </p:nvPr>
        </p:nvSpPr>
        <p:spPr>
          <a:xfrm>
            <a:off x="901541" y="486108"/>
            <a:ext cx="10388918" cy="848947"/>
          </a:xfrm>
        </p:spPr>
        <p:txBody>
          <a:bodyPr>
            <a:normAutofit/>
          </a:bodyPr>
          <a:lstStyle/>
          <a:p>
            <a:pPr algn="l"/>
            <a:r>
              <a:rPr lang="en-US" sz="3200" dirty="0">
                <a:latin typeface="Calibri bold" panose="020F0702030404030204" pitchFamily="34" charset="0"/>
                <a:ea typeface="Calibri bold" panose="020F0702030404030204" pitchFamily="34" charset="0"/>
                <a:cs typeface="Calibri bold" panose="020F0702030404030204" pitchFamily="34" charset="0"/>
              </a:rPr>
              <a:t>Table of Content</a:t>
            </a:r>
            <a:endParaRPr lang="en-IN" sz="3200"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5" name="Subtitle 2">
            <a:extLst>
              <a:ext uri="{FF2B5EF4-FFF2-40B4-BE49-F238E27FC236}">
                <a16:creationId xmlns:a16="http://schemas.microsoft.com/office/drawing/2014/main" id="{9CC61968-87A2-99F2-8504-F64A18D54D05}"/>
              </a:ext>
            </a:extLst>
          </p:cNvPr>
          <p:cNvSpPr txBox="1">
            <a:spLocks/>
          </p:cNvSpPr>
          <p:nvPr/>
        </p:nvSpPr>
        <p:spPr>
          <a:xfrm>
            <a:off x="901540" y="1754154"/>
            <a:ext cx="4547537" cy="347098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t> Company Profile</a:t>
            </a:r>
          </a:p>
          <a:p>
            <a:r>
              <a:rPr lang="en-IN" sz="2400" dirty="0"/>
              <a:t> Internship Planning </a:t>
            </a:r>
          </a:p>
          <a:p>
            <a:r>
              <a:rPr lang="en-IN" sz="2400" dirty="0"/>
              <a:t> Assigned Project </a:t>
            </a:r>
          </a:p>
          <a:p>
            <a:r>
              <a:rPr lang="en-IN" sz="2400" dirty="0"/>
              <a:t> Technology Used </a:t>
            </a:r>
          </a:p>
          <a:p>
            <a:r>
              <a:rPr lang="en-IN" sz="2400" dirty="0"/>
              <a:t> Outline of Work Done</a:t>
            </a:r>
          </a:p>
          <a:p>
            <a:r>
              <a:rPr lang="en-IN" sz="2400" dirty="0"/>
              <a:t> Conclusion of Work Done</a:t>
            </a:r>
          </a:p>
          <a:p>
            <a:pPr marL="0" indent="0">
              <a:buNone/>
            </a:pPr>
            <a:endParaRPr lang="en-US" sz="2400" dirty="0">
              <a:latin typeface="Trebuchet MS" panose="020B0603020202020204" pitchFamily="34" charset="0"/>
            </a:endParaRPr>
          </a:p>
          <a:p>
            <a:pPr marL="0" indent="0">
              <a:buNone/>
            </a:pPr>
            <a:endParaRPr lang="en-IN" sz="2400" dirty="0"/>
          </a:p>
        </p:txBody>
      </p:sp>
    </p:spTree>
    <p:extLst>
      <p:ext uri="{BB962C8B-B14F-4D97-AF65-F5344CB8AC3E}">
        <p14:creationId xmlns:p14="http://schemas.microsoft.com/office/powerpoint/2010/main" val="1453299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9B989D-B228-0086-88AD-DFBBAF134F49}"/>
              </a:ext>
            </a:extLst>
          </p:cNvPr>
          <p:cNvSpPr>
            <a:spLocks noGrp="1"/>
          </p:cNvSpPr>
          <p:nvPr>
            <p:ph idx="1"/>
          </p:nvPr>
        </p:nvSpPr>
        <p:spPr/>
        <p:txBody>
          <a:bodyPr>
            <a:normAutofit lnSpcReduction="10000"/>
          </a:bodyPr>
          <a:lstStyle/>
          <a:p>
            <a:pPr algn="just"/>
            <a:r>
              <a:rPr lang="en-US" sz="2400" dirty="0" err="1"/>
              <a:t>TatvaSoft</a:t>
            </a:r>
            <a:r>
              <a:rPr lang="en-US" sz="2400" dirty="0"/>
              <a:t> is a Microsoft solutions partner software development company which delivers splendid business IT solutions to the customer across the globe.</a:t>
            </a:r>
          </a:p>
          <a:p>
            <a:pPr algn="just"/>
            <a:endParaRPr lang="en-US" sz="2400" dirty="0"/>
          </a:p>
          <a:p>
            <a:pPr algn="just"/>
            <a:r>
              <a:rPr lang="en-US" sz="2400" dirty="0"/>
              <a:t>We are a Consummate Custom Software Development company delivering splendid business IT Solutions and related services to customers across the globe. Our development services are led by our dedicated and passionate team to provide best industry practices combined with technology expertise and business domain knowledge to drive digital transformation. </a:t>
            </a:r>
          </a:p>
          <a:p>
            <a:pPr marL="0" indent="0" algn="just">
              <a:buNone/>
            </a:pPr>
            <a:endParaRPr lang="en-US" sz="2400" dirty="0"/>
          </a:p>
          <a:p>
            <a:pPr algn="just"/>
            <a:r>
              <a:rPr lang="en-US" sz="2400" dirty="0"/>
              <a:t>We have successfully served for more than 1800 success stories ranging from Enterprise level to Start-ups, who have grown alongside the success of the company.</a:t>
            </a:r>
            <a:endParaRPr lang="en-IN" sz="2400" dirty="0"/>
          </a:p>
        </p:txBody>
      </p:sp>
      <p:sp>
        <p:nvSpPr>
          <p:cNvPr id="4" name="Title 1">
            <a:extLst>
              <a:ext uri="{FF2B5EF4-FFF2-40B4-BE49-F238E27FC236}">
                <a16:creationId xmlns:a16="http://schemas.microsoft.com/office/drawing/2014/main" id="{45D1F7B6-4AA9-51FF-5D77-B6087E5C708A}"/>
              </a:ext>
            </a:extLst>
          </p:cNvPr>
          <p:cNvSpPr txBox="1">
            <a:spLocks/>
          </p:cNvSpPr>
          <p:nvPr/>
        </p:nvSpPr>
        <p:spPr>
          <a:xfrm>
            <a:off x="838200" y="759605"/>
            <a:ext cx="7625165" cy="536601"/>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latin typeface="Bahnschrift Light Condensed" panose="020B0502040204020203" pitchFamily="34" charset="0"/>
              </a:rPr>
              <a:t> </a:t>
            </a:r>
            <a:r>
              <a:rPr lang="en-GB" sz="5300" dirty="0">
                <a:latin typeface="Calibri bold" panose="020F0702030404030204" pitchFamily="34" charset="0"/>
                <a:ea typeface="Calibri bold" panose="020F0702030404030204" pitchFamily="34" charset="0"/>
                <a:cs typeface="Calibri bold" panose="020F0702030404030204" pitchFamily="34" charset="0"/>
              </a:rPr>
              <a:t>Company Profile</a:t>
            </a:r>
            <a:endParaRPr lang="en-IN" sz="5300" dirty="0"/>
          </a:p>
        </p:txBody>
      </p:sp>
      <p:pic>
        <p:nvPicPr>
          <p:cNvPr id="6" name="Picture 5">
            <a:extLst>
              <a:ext uri="{FF2B5EF4-FFF2-40B4-BE49-F238E27FC236}">
                <a16:creationId xmlns:a16="http://schemas.microsoft.com/office/drawing/2014/main" id="{398674F9-9F7E-0AB5-CB25-CF89FC392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6079" y="711573"/>
            <a:ext cx="3069770" cy="632664"/>
          </a:xfrm>
          <a:prstGeom prst="rect">
            <a:avLst/>
          </a:prstGeom>
        </p:spPr>
      </p:pic>
    </p:spTree>
    <p:extLst>
      <p:ext uri="{BB962C8B-B14F-4D97-AF65-F5344CB8AC3E}">
        <p14:creationId xmlns:p14="http://schemas.microsoft.com/office/powerpoint/2010/main" val="1122579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9A5C8-CC7B-0ED9-47E9-A19DEC2BD50D}"/>
              </a:ext>
            </a:extLst>
          </p:cNvPr>
          <p:cNvSpPr>
            <a:spLocks noGrp="1"/>
          </p:cNvSpPr>
          <p:nvPr>
            <p:ph type="title"/>
          </p:nvPr>
        </p:nvSpPr>
        <p:spPr>
          <a:xfrm>
            <a:off x="838569" y="702743"/>
            <a:ext cx="10514862" cy="646909"/>
          </a:xfrm>
        </p:spPr>
        <p:txBody>
          <a:bodyPr>
            <a:normAutofit fontScale="90000"/>
          </a:bodyPr>
          <a:lstStyle/>
          <a:p>
            <a:r>
              <a:rPr lang="en-GB" sz="1213" dirty="0">
                <a:latin typeface="Bahnschrift Light Condensed" panose="020B0502040204020203" pitchFamily="34" charset="0"/>
              </a:rPr>
              <a:t/>
            </a:r>
            <a:br>
              <a:rPr lang="en-GB" sz="1213" dirty="0">
                <a:latin typeface="Bahnschrift Light Condensed" panose="020B0502040204020203" pitchFamily="34" charset="0"/>
              </a:rPr>
            </a:br>
            <a:r>
              <a:rPr lang="en-GB" sz="1213" dirty="0">
                <a:latin typeface="Bahnschrift Light Condensed" panose="020B0502040204020203" pitchFamily="34" charset="0"/>
              </a:rPr>
              <a:t> </a:t>
            </a:r>
            <a:r>
              <a:rPr lang="en-GB" dirty="0">
                <a:latin typeface="+mn-lt"/>
              </a:rPr>
              <a:t>Our Services:</a:t>
            </a:r>
            <a:endParaRPr lang="en-IN" dirty="0">
              <a:latin typeface="+mn-lt"/>
              <a:ea typeface="Calibri bold" panose="020F0702030404030204" pitchFamily="34" charset="0"/>
              <a:cs typeface="Calibri bold" panose="020F0702030404030204" pitchFamily="34" charset="0"/>
            </a:endParaRPr>
          </a:p>
        </p:txBody>
      </p:sp>
      <p:sp>
        <p:nvSpPr>
          <p:cNvPr id="4" name="Rectangle 3">
            <a:extLst>
              <a:ext uri="{FF2B5EF4-FFF2-40B4-BE49-F238E27FC236}">
                <a16:creationId xmlns:a16="http://schemas.microsoft.com/office/drawing/2014/main" id="{266A646D-FBA9-0689-2B3E-9EF7B20187C5}"/>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Content Placeholder 4">
            <a:extLst>
              <a:ext uri="{FF2B5EF4-FFF2-40B4-BE49-F238E27FC236}">
                <a16:creationId xmlns:a16="http://schemas.microsoft.com/office/drawing/2014/main" id="{C7E24676-C7A6-8293-1357-A151952CABB9}"/>
              </a:ext>
            </a:extLst>
          </p:cNvPr>
          <p:cNvSpPr>
            <a:spLocks noGrp="1"/>
          </p:cNvSpPr>
          <p:nvPr>
            <p:ph idx="1"/>
          </p:nvPr>
        </p:nvSpPr>
        <p:spPr/>
        <p:txBody>
          <a:bodyPr/>
          <a:lstStyle/>
          <a:p>
            <a:pPr>
              <a:buFont typeface="Wingdings" panose="05000000000000000000" pitchFamily="2" charset="2"/>
              <a:buChar char="Ø"/>
            </a:pPr>
            <a:r>
              <a:rPr lang="en-US" dirty="0"/>
              <a:t>Custom Software Development</a:t>
            </a:r>
          </a:p>
          <a:p>
            <a:pPr>
              <a:buFont typeface="Wingdings" panose="05000000000000000000" pitchFamily="2" charset="2"/>
              <a:buChar char="Ø"/>
            </a:pPr>
            <a:r>
              <a:rPr lang="en-US" dirty="0"/>
              <a:t>Web Development</a:t>
            </a:r>
          </a:p>
          <a:p>
            <a:pPr>
              <a:buFont typeface="Wingdings" panose="05000000000000000000" pitchFamily="2" charset="2"/>
              <a:buChar char="Ø"/>
            </a:pPr>
            <a:r>
              <a:rPr lang="en-US" dirty="0"/>
              <a:t>Dedicated Development Team</a:t>
            </a:r>
          </a:p>
          <a:p>
            <a:pPr>
              <a:buFont typeface="Wingdings" panose="05000000000000000000" pitchFamily="2" charset="2"/>
              <a:buChar char="Ø"/>
            </a:pPr>
            <a:r>
              <a:rPr lang="en-US" dirty="0"/>
              <a:t>Software Product Development</a:t>
            </a:r>
          </a:p>
          <a:p>
            <a:pPr>
              <a:buFont typeface="Wingdings" panose="05000000000000000000" pitchFamily="2" charset="2"/>
              <a:buChar char="Ø"/>
            </a:pPr>
            <a:r>
              <a:rPr lang="en-US" dirty="0"/>
              <a:t>Ecommerce Development</a:t>
            </a:r>
          </a:p>
          <a:p>
            <a:pPr>
              <a:buFont typeface="Wingdings" panose="05000000000000000000" pitchFamily="2" charset="2"/>
              <a:buChar char="Ø"/>
            </a:pPr>
            <a:r>
              <a:rPr lang="en-US" dirty="0"/>
              <a:t>Mobile App Development</a:t>
            </a:r>
          </a:p>
          <a:p>
            <a:pPr>
              <a:buFont typeface="Wingdings" panose="05000000000000000000" pitchFamily="2" charset="2"/>
              <a:buChar char="Ø"/>
            </a:pPr>
            <a:r>
              <a:rPr lang="en-US" dirty="0"/>
              <a:t>Software Testing &amp; QA</a:t>
            </a:r>
          </a:p>
          <a:p>
            <a:pPr>
              <a:buFont typeface="Wingdings" panose="05000000000000000000" pitchFamily="2" charset="2"/>
              <a:buChar char="Ø"/>
            </a:pPr>
            <a:r>
              <a:rPr lang="en-US" dirty="0"/>
              <a:t>UI/UX Design</a:t>
            </a:r>
            <a:endParaRPr lang="en-IN" dirty="0"/>
          </a:p>
        </p:txBody>
      </p:sp>
    </p:spTree>
    <p:extLst>
      <p:ext uri="{BB962C8B-B14F-4D97-AF65-F5344CB8AC3E}">
        <p14:creationId xmlns:p14="http://schemas.microsoft.com/office/powerpoint/2010/main" val="196749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03F28-5F1B-DCEB-72AE-5F3FA8EF187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B88D4F-383A-BEAB-4DA7-768F695CFA39}"/>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2" name="Google Shape;110;p16">
            <a:extLst>
              <a:ext uri="{FF2B5EF4-FFF2-40B4-BE49-F238E27FC236}">
                <a16:creationId xmlns:a16="http://schemas.microsoft.com/office/drawing/2014/main" id="{3E874F33-2419-6129-EB69-E752BF3A5797}"/>
              </a:ext>
            </a:extLst>
          </p:cNvPr>
          <p:cNvSpPr txBox="1">
            <a:spLocks noGrp="1"/>
          </p:cNvSpPr>
          <p:nvPr>
            <p:ph type="title"/>
          </p:nvPr>
        </p:nvSpPr>
        <p:spPr>
          <a:xfrm>
            <a:off x="1250128" y="895633"/>
            <a:ext cx="10251600" cy="713600"/>
          </a:xfrm>
          <a:prstGeom prst="rect">
            <a:avLst/>
          </a:prstGeom>
        </p:spPr>
        <p:txBody>
          <a:bodyPr spcFirstLastPara="1" vert="horz" wrap="square" lIns="121900" tIns="121900" rIns="121900" bIns="121900" rtlCol="0" anchor="t" anchorCtr="0">
            <a:normAutofit fontScale="90000"/>
          </a:bodyPr>
          <a:lstStyle/>
          <a:p>
            <a:r>
              <a:rPr lang="en" b="1" dirty="0">
                <a:solidFill>
                  <a:schemeClr val="dk2"/>
                </a:solidFill>
              </a:rPr>
              <a:t>Internship Planning</a:t>
            </a:r>
            <a:endParaRPr b="1" dirty="0">
              <a:solidFill>
                <a:schemeClr val="dk2"/>
              </a:solidFill>
            </a:endParaRPr>
          </a:p>
        </p:txBody>
      </p:sp>
      <p:sp>
        <p:nvSpPr>
          <p:cNvPr id="53" name="Google Shape;119;p16">
            <a:extLst>
              <a:ext uri="{FF2B5EF4-FFF2-40B4-BE49-F238E27FC236}">
                <a16:creationId xmlns:a16="http://schemas.microsoft.com/office/drawing/2014/main" id="{7C0B7415-CD06-FD74-4163-D02456A0E842}"/>
              </a:ext>
            </a:extLst>
          </p:cNvPr>
          <p:cNvSpPr/>
          <p:nvPr/>
        </p:nvSpPr>
        <p:spPr>
          <a:xfrm rot="-711236">
            <a:off x="5350246" y="3863201"/>
            <a:ext cx="1801212" cy="76883"/>
          </a:xfrm>
          <a:prstGeom prst="roundRect">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sp>
        <p:nvSpPr>
          <p:cNvPr id="54" name="Google Shape;126;p16">
            <a:extLst>
              <a:ext uri="{FF2B5EF4-FFF2-40B4-BE49-F238E27FC236}">
                <a16:creationId xmlns:a16="http://schemas.microsoft.com/office/drawing/2014/main" id="{6B46BA83-5739-EB11-5258-8980841B7162}"/>
              </a:ext>
            </a:extLst>
          </p:cNvPr>
          <p:cNvSpPr/>
          <p:nvPr/>
        </p:nvSpPr>
        <p:spPr>
          <a:xfrm rot="711236" flipH="1">
            <a:off x="3628006" y="3863201"/>
            <a:ext cx="1801212" cy="76883"/>
          </a:xfrm>
          <a:prstGeom prst="roundRect">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nvGrpSpPr>
          <p:cNvPr id="55" name="Google Shape;127;p16">
            <a:extLst>
              <a:ext uri="{FF2B5EF4-FFF2-40B4-BE49-F238E27FC236}">
                <a16:creationId xmlns:a16="http://schemas.microsoft.com/office/drawing/2014/main" id="{98154895-1560-C421-A6F5-8A6BEBFFA1A2}"/>
              </a:ext>
            </a:extLst>
          </p:cNvPr>
          <p:cNvGrpSpPr/>
          <p:nvPr/>
        </p:nvGrpSpPr>
        <p:grpSpPr>
          <a:xfrm>
            <a:off x="4252579" y="3976958"/>
            <a:ext cx="2283600" cy="1763966"/>
            <a:chOff x="3021975" y="2571072"/>
            <a:chExt cx="1712700" cy="1201441"/>
          </a:xfrm>
        </p:grpSpPr>
        <p:sp>
          <p:nvSpPr>
            <p:cNvPr id="57" name="Google Shape;129;p16">
              <a:extLst>
                <a:ext uri="{FF2B5EF4-FFF2-40B4-BE49-F238E27FC236}">
                  <a16:creationId xmlns:a16="http://schemas.microsoft.com/office/drawing/2014/main" id="{E2BFDAF2-9904-268B-731C-E255B4D6F270}"/>
                </a:ext>
              </a:extLst>
            </p:cNvPr>
            <p:cNvSpPr/>
            <p:nvPr/>
          </p:nvSpPr>
          <p:spPr>
            <a:xfrm rot="-1789476">
              <a:off x="3798091" y="2571072"/>
              <a:ext cx="160451" cy="160451"/>
            </a:xfrm>
            <a:prstGeom prst="ellipse">
              <a:avLst/>
            </a:prstGeom>
            <a:solidFill>
              <a:srgbClr val="FFFFFF"/>
            </a:solidFill>
            <a:ln w="38100" cap="flat" cmpd="sng">
              <a:solidFill>
                <a:srgbClr val="701C7F"/>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58" name="Google Shape;130;p16">
              <a:extLst>
                <a:ext uri="{FF2B5EF4-FFF2-40B4-BE49-F238E27FC236}">
                  <a16:creationId xmlns:a16="http://schemas.microsoft.com/office/drawing/2014/main" id="{BD0B2F47-7CE1-B6CB-5405-DF01E727C771}"/>
                </a:ext>
              </a:extLst>
            </p:cNvPr>
            <p:cNvSpPr/>
            <p:nvPr/>
          </p:nvSpPr>
          <p:spPr>
            <a:xfrm>
              <a:off x="3021975" y="3069013"/>
              <a:ext cx="1712700" cy="703500"/>
            </a:xfrm>
            <a:prstGeom prst="roundRect">
              <a:avLst>
                <a:gd name="adj" fmla="val 4485"/>
              </a:avLst>
            </a:prstGeom>
            <a:solidFill>
              <a:srgbClr val="701C7F"/>
            </a:solidFill>
            <a:ln>
              <a:noFill/>
            </a:ln>
          </p:spPr>
          <p:txBody>
            <a:bodyPr spcFirstLastPara="1" wrap="square" lIns="121900" tIns="121900" rIns="121900" bIns="121900" anchor="ctr" anchorCtr="0">
              <a:noAutofit/>
            </a:bodyPr>
            <a:lstStyle/>
            <a:p>
              <a:endParaRPr sz="2400"/>
            </a:p>
            <a:p>
              <a:endParaRPr sz="2400"/>
            </a:p>
            <a:p>
              <a:endParaRPr sz="2400"/>
            </a:p>
            <a:p>
              <a:endParaRPr sz="2400"/>
            </a:p>
            <a:p>
              <a:endParaRPr sz="2400"/>
            </a:p>
            <a:p>
              <a:endParaRPr sz="2400"/>
            </a:p>
            <a:p>
              <a:endParaRPr sz="2400"/>
            </a:p>
          </p:txBody>
        </p:sp>
        <p:sp>
          <p:nvSpPr>
            <p:cNvPr id="59" name="Google Shape;131;p16">
              <a:extLst>
                <a:ext uri="{FF2B5EF4-FFF2-40B4-BE49-F238E27FC236}">
                  <a16:creationId xmlns:a16="http://schemas.microsoft.com/office/drawing/2014/main" id="{DF4E8052-3A87-6DC7-4C16-CEC8583D0858}"/>
                </a:ext>
              </a:extLst>
            </p:cNvPr>
            <p:cNvSpPr txBox="1"/>
            <p:nvPr/>
          </p:nvSpPr>
          <p:spPr>
            <a:xfrm>
              <a:off x="3166751" y="3017355"/>
              <a:ext cx="1410803" cy="219864"/>
            </a:xfrm>
            <a:prstGeom prst="rect">
              <a:avLst/>
            </a:prstGeom>
            <a:noFill/>
            <a:ln>
              <a:noFill/>
            </a:ln>
          </p:spPr>
          <p:txBody>
            <a:bodyPr spcFirstLastPara="1" wrap="square" lIns="121900" tIns="121900" rIns="121900" bIns="121900" anchor="t" anchorCtr="0">
              <a:noAutofit/>
            </a:bodyPr>
            <a:lstStyle/>
            <a:p>
              <a:pPr algn="ctr"/>
              <a:r>
                <a:rPr lang="en-US" altLang="ko-KR" sz="123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Along with the</a:t>
              </a:r>
            </a:p>
            <a:p>
              <a:pPr algn="ctr"/>
              <a:r>
                <a:rPr lang="en-US" altLang="ko-KR" sz="123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development of front-end of patient site we will </a:t>
              </a:r>
              <a:r>
                <a:rPr lang="en-US" altLang="ko-KR" sz="1230" b="1" dirty="0" err="1" smtClean="0">
                  <a:solidFill>
                    <a:schemeClr val="bg1"/>
                  </a:solidFill>
                  <a:latin typeface="Calibri" panose="020F0502020204030204" pitchFamily="34" charset="0"/>
                  <a:ea typeface="Calibri" panose="020F0502020204030204" pitchFamily="34" charset="0"/>
                  <a:cs typeface="Calibri" panose="020F0502020204030204" pitchFamily="34" charset="0"/>
                </a:rPr>
                <a:t>parallelly</a:t>
              </a:r>
              <a:r>
                <a:rPr lang="en-US" altLang="ko-KR" sz="1230" b="1" dirty="0" smtClean="0">
                  <a:solidFill>
                    <a:schemeClr val="bg1"/>
                  </a:solidFill>
                  <a:latin typeface="Calibri" panose="020F0502020204030204" pitchFamily="34" charset="0"/>
                  <a:ea typeface="Calibri" panose="020F0502020204030204" pitchFamily="34" charset="0"/>
                  <a:cs typeface="Calibri" panose="020F0502020204030204" pitchFamily="34" charset="0"/>
                </a:rPr>
                <a:t> learn ASP.NET MVC Core</a:t>
              </a:r>
              <a:endParaRPr lang="ko-KR" altLang="en-US" sz="1230" b="1" dirty="0">
                <a:solidFill>
                  <a:schemeClr val="bg1"/>
                </a:solidFill>
                <a:latin typeface="Calibri" panose="020F0502020204030204" pitchFamily="34" charset="0"/>
                <a:cs typeface="Calibri" panose="020F0502020204030204" pitchFamily="34" charset="0"/>
              </a:endParaRPr>
            </a:p>
          </p:txBody>
        </p:sp>
        <p:sp>
          <p:nvSpPr>
            <p:cNvPr id="60" name="Google Shape;132;p16">
              <a:extLst>
                <a:ext uri="{FF2B5EF4-FFF2-40B4-BE49-F238E27FC236}">
                  <a16:creationId xmlns:a16="http://schemas.microsoft.com/office/drawing/2014/main" id="{93237E7A-2B52-9E10-DF2E-CAEF6286D738}"/>
                </a:ext>
              </a:extLst>
            </p:cNvPr>
            <p:cNvSpPr/>
            <p:nvPr/>
          </p:nvSpPr>
          <p:spPr>
            <a:xfrm>
              <a:off x="3833325" y="3004364"/>
              <a:ext cx="90000" cy="67500"/>
            </a:xfrm>
            <a:prstGeom prst="triangle">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sp>
        <p:nvSpPr>
          <p:cNvPr id="61" name="Google Shape;133;p16">
            <a:extLst>
              <a:ext uri="{FF2B5EF4-FFF2-40B4-BE49-F238E27FC236}">
                <a16:creationId xmlns:a16="http://schemas.microsoft.com/office/drawing/2014/main" id="{B4AE3570-29B4-FC95-3E85-1FDA4F0BD66A}"/>
              </a:ext>
            </a:extLst>
          </p:cNvPr>
          <p:cNvSpPr/>
          <p:nvPr/>
        </p:nvSpPr>
        <p:spPr>
          <a:xfrm rot="-711236">
            <a:off x="1929173" y="3863201"/>
            <a:ext cx="1801212" cy="76883"/>
          </a:xfrm>
          <a:prstGeom prst="roundRect">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nvGrpSpPr>
          <p:cNvPr id="62" name="Google Shape;134;p16">
            <a:extLst>
              <a:ext uri="{FF2B5EF4-FFF2-40B4-BE49-F238E27FC236}">
                <a16:creationId xmlns:a16="http://schemas.microsoft.com/office/drawing/2014/main" id="{351892BB-7110-5183-3DBC-B1C9B83E511F}"/>
              </a:ext>
            </a:extLst>
          </p:cNvPr>
          <p:cNvGrpSpPr/>
          <p:nvPr/>
        </p:nvGrpSpPr>
        <p:grpSpPr>
          <a:xfrm>
            <a:off x="2536828" y="2155456"/>
            <a:ext cx="2283600" cy="1670880"/>
            <a:chOff x="1637475" y="1184261"/>
            <a:chExt cx="1712700" cy="1253160"/>
          </a:xfrm>
        </p:grpSpPr>
        <p:sp>
          <p:nvSpPr>
            <p:cNvPr id="63" name="Google Shape;135;p16">
              <a:extLst>
                <a:ext uri="{FF2B5EF4-FFF2-40B4-BE49-F238E27FC236}">
                  <a16:creationId xmlns:a16="http://schemas.microsoft.com/office/drawing/2014/main" id="{A8856968-AB4D-4A06-CD3C-430590943992}"/>
                </a:ext>
              </a:extLst>
            </p:cNvPr>
            <p:cNvSpPr/>
            <p:nvPr/>
          </p:nvSpPr>
          <p:spPr>
            <a:xfrm>
              <a:off x="1637475" y="1219942"/>
              <a:ext cx="1712700" cy="703500"/>
            </a:xfrm>
            <a:prstGeom prst="roundRect">
              <a:avLst>
                <a:gd name="adj" fmla="val 4485"/>
              </a:avLst>
            </a:prstGeom>
            <a:solidFill>
              <a:srgbClr val="701C7F"/>
            </a:solidFill>
            <a:ln>
              <a:noFill/>
            </a:ln>
          </p:spPr>
          <p:txBody>
            <a:bodyPr spcFirstLastPara="1" wrap="square" lIns="121900" tIns="121900" rIns="121900" bIns="121900" anchor="ctr" anchorCtr="0">
              <a:noAutofit/>
            </a:bodyPr>
            <a:lstStyle/>
            <a:p>
              <a:endParaRPr sz="2400"/>
            </a:p>
            <a:p>
              <a:endParaRPr sz="2400"/>
            </a:p>
            <a:p>
              <a:endParaRPr sz="2400"/>
            </a:p>
            <a:p>
              <a:endParaRPr sz="2400"/>
            </a:p>
            <a:p>
              <a:endParaRPr sz="2400"/>
            </a:p>
            <a:p>
              <a:endParaRPr sz="2400"/>
            </a:p>
            <a:p>
              <a:endParaRPr sz="2400"/>
            </a:p>
          </p:txBody>
        </p:sp>
        <p:sp>
          <p:nvSpPr>
            <p:cNvPr id="65" name="Google Shape;137;p16">
              <a:extLst>
                <a:ext uri="{FF2B5EF4-FFF2-40B4-BE49-F238E27FC236}">
                  <a16:creationId xmlns:a16="http://schemas.microsoft.com/office/drawing/2014/main" id="{651BFBC2-9866-AED8-D872-B82FB7B710C5}"/>
                </a:ext>
              </a:extLst>
            </p:cNvPr>
            <p:cNvSpPr/>
            <p:nvPr/>
          </p:nvSpPr>
          <p:spPr>
            <a:xfrm rot="10800000">
              <a:off x="2448800" y="1919036"/>
              <a:ext cx="90000" cy="67500"/>
            </a:xfrm>
            <a:prstGeom prst="triangle">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sp>
          <p:nvSpPr>
            <p:cNvPr id="66" name="Google Shape;138;p16">
              <a:extLst>
                <a:ext uri="{FF2B5EF4-FFF2-40B4-BE49-F238E27FC236}">
                  <a16:creationId xmlns:a16="http://schemas.microsoft.com/office/drawing/2014/main" id="{3F8E793B-056B-0FF5-2DEA-ECAA986EC18D}"/>
                </a:ext>
              </a:extLst>
            </p:cNvPr>
            <p:cNvSpPr txBox="1"/>
            <p:nvPr/>
          </p:nvSpPr>
          <p:spPr>
            <a:xfrm>
              <a:off x="1754790" y="1184261"/>
              <a:ext cx="1472400" cy="468300"/>
            </a:xfrm>
            <a:prstGeom prst="rect">
              <a:avLst/>
            </a:prstGeom>
            <a:noFill/>
            <a:ln>
              <a:noFill/>
            </a:ln>
          </p:spPr>
          <p:txBody>
            <a:bodyPr spcFirstLastPara="1" wrap="square" lIns="121900" tIns="121900" rIns="121900" bIns="121900" anchor="t" anchorCtr="0">
              <a:noAutofit/>
            </a:bodyPr>
            <a:lstStyle/>
            <a:p>
              <a:pPr algn="ctr"/>
              <a:r>
                <a:rPr lang="en-US" altLang="ko-KR" sz="1330" dirty="0">
                  <a:solidFill>
                    <a:schemeClr val="bg1"/>
                  </a:solidFill>
                  <a:latin typeface="Calibri" panose="020F0502020204030204" pitchFamily="34" charset="0"/>
                  <a:ea typeface="Calibri" panose="020F0502020204030204" pitchFamily="34" charset="0"/>
                  <a:cs typeface="Calibri" panose="020F0502020204030204" pitchFamily="34" charset="0"/>
                </a:rPr>
                <a:t>Beginning with front-end development</a:t>
              </a:r>
            </a:p>
            <a:p>
              <a:pPr algn="ctr"/>
              <a:r>
                <a:rPr lang="en-US" altLang="ko-KR" sz="1330" dirty="0">
                  <a:solidFill>
                    <a:schemeClr val="bg1"/>
                  </a:solidFill>
                  <a:latin typeface="Calibri" panose="020F0502020204030204" pitchFamily="34" charset="0"/>
                  <a:ea typeface="Calibri" panose="020F0502020204030204" pitchFamily="34" charset="0"/>
                  <a:cs typeface="Calibri" panose="020F0502020204030204" pitchFamily="34" charset="0"/>
                </a:rPr>
                <a:t>of</a:t>
              </a:r>
            </a:p>
            <a:p>
              <a:pPr algn="ctr"/>
              <a:r>
                <a:rPr lang="en-US" altLang="ko-KR" sz="1330" dirty="0">
                  <a:solidFill>
                    <a:schemeClr val="bg1"/>
                  </a:solidFill>
                  <a:latin typeface="Calibri" panose="020F0502020204030204" pitchFamily="34" charset="0"/>
                  <a:ea typeface="Calibri" panose="020F0502020204030204" pitchFamily="34" charset="0"/>
                  <a:cs typeface="Calibri" panose="020F0502020204030204" pitchFamily="34" charset="0"/>
                </a:rPr>
                <a:t>Patient site</a:t>
              </a:r>
              <a:endParaRPr lang="ko-KR" altLang="en-US" sz="1330" dirty="0">
                <a:solidFill>
                  <a:schemeClr val="bg1"/>
                </a:solidFill>
                <a:latin typeface="Calibri" panose="020F0502020204030204" pitchFamily="34" charset="0"/>
                <a:cs typeface="Calibri" panose="020F0502020204030204" pitchFamily="34" charset="0"/>
              </a:endParaRPr>
            </a:p>
          </p:txBody>
        </p:sp>
        <p:sp>
          <p:nvSpPr>
            <p:cNvPr id="67" name="Google Shape;139;p16">
              <a:extLst>
                <a:ext uri="{FF2B5EF4-FFF2-40B4-BE49-F238E27FC236}">
                  <a16:creationId xmlns:a16="http://schemas.microsoft.com/office/drawing/2014/main" id="{369F41EE-EFDF-D4DE-677D-673AF3AB0677}"/>
                </a:ext>
              </a:extLst>
            </p:cNvPr>
            <p:cNvSpPr/>
            <p:nvPr/>
          </p:nvSpPr>
          <p:spPr>
            <a:xfrm rot="-1789476">
              <a:off x="2410765" y="2276970"/>
              <a:ext cx="160451" cy="160451"/>
            </a:xfrm>
            <a:prstGeom prst="ellipse">
              <a:avLst/>
            </a:prstGeom>
            <a:solidFill>
              <a:srgbClr val="FFFFFF"/>
            </a:solidFill>
            <a:ln w="38100" cap="flat" cmpd="sng">
              <a:solidFill>
                <a:srgbClr val="701C7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68" name="Google Shape;126;p16">
            <a:extLst>
              <a:ext uri="{FF2B5EF4-FFF2-40B4-BE49-F238E27FC236}">
                <a16:creationId xmlns:a16="http://schemas.microsoft.com/office/drawing/2014/main" id="{3D55DF28-BC3A-BF35-C1DB-492DF4FB15B0}"/>
              </a:ext>
            </a:extLst>
          </p:cNvPr>
          <p:cNvSpPr/>
          <p:nvPr/>
        </p:nvSpPr>
        <p:spPr>
          <a:xfrm rot="720000" flipH="1">
            <a:off x="7207403" y="3869479"/>
            <a:ext cx="1801212" cy="76883"/>
          </a:xfrm>
          <a:prstGeom prst="roundRect">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nvGrpSpPr>
          <p:cNvPr id="69" name="Google Shape;127;p16">
            <a:extLst>
              <a:ext uri="{FF2B5EF4-FFF2-40B4-BE49-F238E27FC236}">
                <a16:creationId xmlns:a16="http://schemas.microsoft.com/office/drawing/2014/main" id="{A3CF8509-50D1-FB95-9C5E-405A6E531C90}"/>
              </a:ext>
            </a:extLst>
          </p:cNvPr>
          <p:cNvGrpSpPr/>
          <p:nvPr/>
        </p:nvGrpSpPr>
        <p:grpSpPr>
          <a:xfrm>
            <a:off x="7808119" y="3976958"/>
            <a:ext cx="2283600" cy="1763966"/>
            <a:chOff x="3021975" y="2571072"/>
            <a:chExt cx="1712700" cy="1201441"/>
          </a:xfrm>
        </p:grpSpPr>
        <p:sp>
          <p:nvSpPr>
            <p:cNvPr id="71" name="Google Shape;129;p16">
              <a:extLst>
                <a:ext uri="{FF2B5EF4-FFF2-40B4-BE49-F238E27FC236}">
                  <a16:creationId xmlns:a16="http://schemas.microsoft.com/office/drawing/2014/main" id="{9C7891D3-B02F-92A5-CC4F-0D2D5D391E61}"/>
                </a:ext>
              </a:extLst>
            </p:cNvPr>
            <p:cNvSpPr/>
            <p:nvPr/>
          </p:nvSpPr>
          <p:spPr>
            <a:xfrm rot="-1789476">
              <a:off x="3798091" y="2571072"/>
              <a:ext cx="160451" cy="160451"/>
            </a:xfrm>
            <a:prstGeom prst="ellipse">
              <a:avLst/>
            </a:prstGeom>
            <a:solidFill>
              <a:srgbClr val="FFFFFF"/>
            </a:solidFill>
            <a:ln w="38100" cap="flat" cmpd="sng">
              <a:solidFill>
                <a:srgbClr val="701C7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2" name="Google Shape;130;p16">
              <a:extLst>
                <a:ext uri="{FF2B5EF4-FFF2-40B4-BE49-F238E27FC236}">
                  <a16:creationId xmlns:a16="http://schemas.microsoft.com/office/drawing/2014/main" id="{10321D69-86A3-741B-79D1-66D7A953FBF0}"/>
                </a:ext>
              </a:extLst>
            </p:cNvPr>
            <p:cNvSpPr/>
            <p:nvPr/>
          </p:nvSpPr>
          <p:spPr>
            <a:xfrm>
              <a:off x="3021975" y="3069013"/>
              <a:ext cx="1712700" cy="703500"/>
            </a:xfrm>
            <a:prstGeom prst="roundRect">
              <a:avLst>
                <a:gd name="adj" fmla="val 4485"/>
              </a:avLst>
            </a:prstGeom>
            <a:solidFill>
              <a:srgbClr val="701C7F"/>
            </a:solidFill>
            <a:ln>
              <a:noFill/>
            </a:ln>
          </p:spPr>
          <p:txBody>
            <a:bodyPr spcFirstLastPara="1" wrap="square" lIns="121900" tIns="121900" rIns="121900" bIns="121900" anchor="ctr" anchorCtr="0">
              <a:noAutofit/>
            </a:bodyPr>
            <a:lstStyle/>
            <a:p>
              <a:endParaRPr sz="2400"/>
            </a:p>
            <a:p>
              <a:endParaRPr sz="2400"/>
            </a:p>
            <a:p>
              <a:endParaRPr sz="2400"/>
            </a:p>
            <a:p>
              <a:endParaRPr sz="2400"/>
            </a:p>
            <a:p>
              <a:endParaRPr sz="2400"/>
            </a:p>
            <a:p>
              <a:endParaRPr sz="2400"/>
            </a:p>
            <a:p>
              <a:endParaRPr sz="2400"/>
            </a:p>
          </p:txBody>
        </p:sp>
        <p:sp>
          <p:nvSpPr>
            <p:cNvPr id="73" name="Google Shape;131;p16">
              <a:extLst>
                <a:ext uri="{FF2B5EF4-FFF2-40B4-BE49-F238E27FC236}">
                  <a16:creationId xmlns:a16="http://schemas.microsoft.com/office/drawing/2014/main" id="{82B5E381-C685-2410-EFB7-EB3DEAB7A07C}"/>
                </a:ext>
              </a:extLst>
            </p:cNvPr>
            <p:cNvSpPr txBox="1"/>
            <p:nvPr/>
          </p:nvSpPr>
          <p:spPr>
            <a:xfrm>
              <a:off x="3021975" y="3129781"/>
              <a:ext cx="1624200" cy="333900"/>
            </a:xfrm>
            <a:prstGeom prst="rect">
              <a:avLst/>
            </a:prstGeom>
            <a:noFill/>
            <a:ln>
              <a:noFill/>
            </a:ln>
          </p:spPr>
          <p:txBody>
            <a:bodyPr spcFirstLastPara="1" wrap="square" lIns="121900" tIns="121900" rIns="121900" bIns="121900" anchor="t" anchorCtr="0">
              <a:noAutofit/>
            </a:bodyPr>
            <a:lstStyle/>
            <a:p>
              <a:pPr algn="ctr"/>
              <a:r>
                <a:rPr lang="en-US" altLang="ko-KR" sz="1330" dirty="0" smtClean="0">
                  <a:solidFill>
                    <a:schemeClr val="bg1"/>
                  </a:solidFill>
                  <a:latin typeface="Calibri" panose="020F0502020204030204" pitchFamily="34" charset="0"/>
                  <a:ea typeface="Calibri" panose="020F0502020204030204" pitchFamily="34" charset="0"/>
                  <a:cs typeface="Calibri" panose="020F0502020204030204" pitchFamily="34" charset="0"/>
                </a:rPr>
                <a:t>Developing admin website along with database integration</a:t>
              </a:r>
              <a:endParaRPr lang="en-US" sz="1330" dirty="0">
                <a:solidFill>
                  <a:schemeClr val="bg1"/>
                </a:solidFill>
              </a:endParaRPr>
            </a:p>
          </p:txBody>
        </p:sp>
        <p:sp>
          <p:nvSpPr>
            <p:cNvPr id="74" name="Google Shape;132;p16">
              <a:extLst>
                <a:ext uri="{FF2B5EF4-FFF2-40B4-BE49-F238E27FC236}">
                  <a16:creationId xmlns:a16="http://schemas.microsoft.com/office/drawing/2014/main" id="{F0272D3E-5872-1659-BC3C-DFE5C3952690}"/>
                </a:ext>
              </a:extLst>
            </p:cNvPr>
            <p:cNvSpPr/>
            <p:nvPr/>
          </p:nvSpPr>
          <p:spPr>
            <a:xfrm>
              <a:off x="3833325" y="3004364"/>
              <a:ext cx="90000" cy="67500"/>
            </a:xfrm>
            <a:prstGeom prst="triangle">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grpSp>
        <p:nvGrpSpPr>
          <p:cNvPr id="75" name="Google Shape;127;p16">
            <a:extLst>
              <a:ext uri="{FF2B5EF4-FFF2-40B4-BE49-F238E27FC236}">
                <a16:creationId xmlns:a16="http://schemas.microsoft.com/office/drawing/2014/main" id="{B223EA71-6D07-2D1F-06BD-7C4FA80C2F7B}"/>
              </a:ext>
            </a:extLst>
          </p:cNvPr>
          <p:cNvGrpSpPr/>
          <p:nvPr/>
        </p:nvGrpSpPr>
        <p:grpSpPr>
          <a:xfrm flipV="1">
            <a:off x="6022097" y="2183918"/>
            <a:ext cx="2283600" cy="1621033"/>
            <a:chOff x="3021975" y="2571072"/>
            <a:chExt cx="1712700" cy="1215775"/>
          </a:xfrm>
        </p:grpSpPr>
        <p:sp>
          <p:nvSpPr>
            <p:cNvPr id="77" name="Google Shape;129;p16">
              <a:extLst>
                <a:ext uri="{FF2B5EF4-FFF2-40B4-BE49-F238E27FC236}">
                  <a16:creationId xmlns:a16="http://schemas.microsoft.com/office/drawing/2014/main" id="{801CC34E-6017-6B16-E1DB-99850DE6D633}"/>
                </a:ext>
              </a:extLst>
            </p:cNvPr>
            <p:cNvSpPr/>
            <p:nvPr/>
          </p:nvSpPr>
          <p:spPr>
            <a:xfrm rot="-1789476">
              <a:off x="3798091" y="2571072"/>
              <a:ext cx="160451" cy="160451"/>
            </a:xfrm>
            <a:prstGeom prst="ellipse">
              <a:avLst/>
            </a:prstGeom>
            <a:solidFill>
              <a:srgbClr val="FFFFFF"/>
            </a:solidFill>
            <a:ln w="38100" cap="flat" cmpd="sng">
              <a:solidFill>
                <a:srgbClr val="701C7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8" name="Google Shape;130;p16">
              <a:extLst>
                <a:ext uri="{FF2B5EF4-FFF2-40B4-BE49-F238E27FC236}">
                  <a16:creationId xmlns:a16="http://schemas.microsoft.com/office/drawing/2014/main" id="{6576266B-B602-8AED-309C-835CC78AE5BB}"/>
                </a:ext>
              </a:extLst>
            </p:cNvPr>
            <p:cNvSpPr/>
            <p:nvPr/>
          </p:nvSpPr>
          <p:spPr>
            <a:xfrm>
              <a:off x="3021975" y="3069013"/>
              <a:ext cx="1712700" cy="703500"/>
            </a:xfrm>
            <a:prstGeom prst="roundRect">
              <a:avLst>
                <a:gd name="adj" fmla="val 4485"/>
              </a:avLst>
            </a:prstGeom>
            <a:solidFill>
              <a:srgbClr val="701C7F"/>
            </a:solidFill>
            <a:ln>
              <a:noFill/>
            </a:ln>
          </p:spPr>
          <p:txBody>
            <a:bodyPr spcFirstLastPara="1" wrap="square" lIns="121900" tIns="121900" rIns="121900" bIns="121900" anchor="ctr" anchorCtr="0">
              <a:noAutofit/>
            </a:bodyPr>
            <a:lstStyle/>
            <a:p>
              <a:endParaRPr sz="2400"/>
            </a:p>
            <a:p>
              <a:endParaRPr sz="2400"/>
            </a:p>
            <a:p>
              <a:endParaRPr sz="2400"/>
            </a:p>
            <a:p>
              <a:endParaRPr sz="2400"/>
            </a:p>
            <a:p>
              <a:endParaRPr sz="2400"/>
            </a:p>
            <a:p>
              <a:endParaRPr sz="2400"/>
            </a:p>
            <a:p>
              <a:endParaRPr sz="2400"/>
            </a:p>
          </p:txBody>
        </p:sp>
        <p:sp>
          <p:nvSpPr>
            <p:cNvPr id="79" name="Google Shape;131;p16">
              <a:extLst>
                <a:ext uri="{FF2B5EF4-FFF2-40B4-BE49-F238E27FC236}">
                  <a16:creationId xmlns:a16="http://schemas.microsoft.com/office/drawing/2014/main" id="{BC03C1F6-C4BC-AD71-35B0-1AC4BE8B7C9E}"/>
                </a:ext>
              </a:extLst>
            </p:cNvPr>
            <p:cNvSpPr txBox="1"/>
            <p:nvPr/>
          </p:nvSpPr>
          <p:spPr>
            <a:xfrm rot="10800000">
              <a:off x="3066216" y="3452947"/>
              <a:ext cx="1624200" cy="333900"/>
            </a:xfrm>
            <a:prstGeom prst="rect">
              <a:avLst/>
            </a:prstGeom>
            <a:noFill/>
            <a:ln>
              <a:noFill/>
            </a:ln>
          </p:spPr>
          <p:txBody>
            <a:bodyPr spcFirstLastPara="1" wrap="square" lIns="121900" tIns="121900" rIns="121900" bIns="121900" anchor="t" anchorCtr="0">
              <a:noAutofit/>
            </a:bodyPr>
            <a:lstStyle/>
            <a:p>
              <a:pPr algn="ctr"/>
              <a:r>
                <a:rPr lang="en-US" altLang="ko-KR" sz="1230" b="1" dirty="0">
                  <a:solidFill>
                    <a:schemeClr val="bg1"/>
                  </a:solidFill>
                  <a:latin typeface="Calibri" panose="020F0502020204030204" pitchFamily="34" charset="0"/>
                  <a:ea typeface="Calibri" panose="020F0502020204030204" pitchFamily="34" charset="0"/>
                  <a:cs typeface="Calibri" panose="020F0502020204030204" pitchFamily="34" charset="0"/>
                </a:rPr>
                <a:t>Implementing backend with ASP.NET MVC Core and integrating it with front end of Patient Site</a:t>
              </a:r>
              <a:endParaRPr lang="ko-KR" altLang="en-US" sz="1230" b="1" dirty="0">
                <a:solidFill>
                  <a:schemeClr val="bg1"/>
                </a:solidFill>
                <a:latin typeface="Calibri" panose="020F0502020204030204" pitchFamily="34" charset="0"/>
                <a:cs typeface="Calibri" panose="020F0502020204030204" pitchFamily="34" charset="0"/>
              </a:endParaRPr>
            </a:p>
          </p:txBody>
        </p:sp>
        <p:sp>
          <p:nvSpPr>
            <p:cNvPr id="80" name="Google Shape;132;p16">
              <a:extLst>
                <a:ext uri="{FF2B5EF4-FFF2-40B4-BE49-F238E27FC236}">
                  <a16:creationId xmlns:a16="http://schemas.microsoft.com/office/drawing/2014/main" id="{9DF8B276-7CC4-6012-4FC7-AFCB8491BAE6}"/>
                </a:ext>
              </a:extLst>
            </p:cNvPr>
            <p:cNvSpPr/>
            <p:nvPr/>
          </p:nvSpPr>
          <p:spPr>
            <a:xfrm>
              <a:off x="3833325" y="3004364"/>
              <a:ext cx="90000" cy="67500"/>
            </a:xfrm>
            <a:prstGeom prst="triangle">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sp>
        <p:nvSpPr>
          <p:cNvPr id="81" name="Google Shape;119;p16">
            <a:extLst>
              <a:ext uri="{FF2B5EF4-FFF2-40B4-BE49-F238E27FC236}">
                <a16:creationId xmlns:a16="http://schemas.microsoft.com/office/drawing/2014/main" id="{E7EFE687-30B3-C07D-3E64-0401D86B342B}"/>
              </a:ext>
            </a:extLst>
          </p:cNvPr>
          <p:cNvSpPr/>
          <p:nvPr/>
        </p:nvSpPr>
        <p:spPr>
          <a:xfrm rot="20888764">
            <a:off x="9021473" y="3858657"/>
            <a:ext cx="1801212" cy="76883"/>
          </a:xfrm>
          <a:prstGeom prst="roundRect">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nvGrpSpPr>
          <p:cNvPr id="82" name="Google Shape;127;p16">
            <a:extLst>
              <a:ext uri="{FF2B5EF4-FFF2-40B4-BE49-F238E27FC236}">
                <a16:creationId xmlns:a16="http://schemas.microsoft.com/office/drawing/2014/main" id="{AC9A48CE-D7AA-DFE5-813D-B70149AB763E}"/>
              </a:ext>
            </a:extLst>
          </p:cNvPr>
          <p:cNvGrpSpPr/>
          <p:nvPr/>
        </p:nvGrpSpPr>
        <p:grpSpPr>
          <a:xfrm flipV="1">
            <a:off x="9777226" y="2197332"/>
            <a:ext cx="2283600" cy="1601921"/>
            <a:chOff x="3021975" y="2571072"/>
            <a:chExt cx="1712700" cy="1201441"/>
          </a:xfrm>
        </p:grpSpPr>
        <p:sp>
          <p:nvSpPr>
            <p:cNvPr id="84" name="Google Shape;129;p16">
              <a:extLst>
                <a:ext uri="{FF2B5EF4-FFF2-40B4-BE49-F238E27FC236}">
                  <a16:creationId xmlns:a16="http://schemas.microsoft.com/office/drawing/2014/main" id="{4D0451FE-6BAC-25F1-B649-DD43568C9820}"/>
                </a:ext>
              </a:extLst>
            </p:cNvPr>
            <p:cNvSpPr/>
            <p:nvPr/>
          </p:nvSpPr>
          <p:spPr>
            <a:xfrm rot="-1789476">
              <a:off x="3798091" y="2571072"/>
              <a:ext cx="160451" cy="160451"/>
            </a:xfrm>
            <a:prstGeom prst="ellipse">
              <a:avLst/>
            </a:prstGeom>
            <a:solidFill>
              <a:srgbClr val="FFFFFF"/>
            </a:solidFill>
            <a:ln w="38100" cap="flat" cmpd="sng">
              <a:solidFill>
                <a:srgbClr val="701C7F"/>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85" name="Google Shape;130;p16">
              <a:extLst>
                <a:ext uri="{FF2B5EF4-FFF2-40B4-BE49-F238E27FC236}">
                  <a16:creationId xmlns:a16="http://schemas.microsoft.com/office/drawing/2014/main" id="{213212D1-F102-8500-0DFA-07C3850D60D7}"/>
                </a:ext>
              </a:extLst>
            </p:cNvPr>
            <p:cNvSpPr/>
            <p:nvPr/>
          </p:nvSpPr>
          <p:spPr>
            <a:xfrm>
              <a:off x="3021975" y="3069013"/>
              <a:ext cx="1712700" cy="703500"/>
            </a:xfrm>
            <a:prstGeom prst="roundRect">
              <a:avLst>
                <a:gd name="adj" fmla="val 4485"/>
              </a:avLst>
            </a:prstGeom>
            <a:solidFill>
              <a:srgbClr val="701C7F"/>
            </a:solidFill>
            <a:ln>
              <a:noFill/>
            </a:ln>
          </p:spPr>
          <p:txBody>
            <a:bodyPr spcFirstLastPara="1" wrap="square" lIns="121900" tIns="121900" rIns="121900" bIns="121900" anchor="ctr" anchorCtr="0">
              <a:noAutofit/>
            </a:bodyPr>
            <a:lstStyle/>
            <a:p>
              <a:endParaRPr sz="2400"/>
            </a:p>
            <a:p>
              <a:endParaRPr sz="2400"/>
            </a:p>
            <a:p>
              <a:endParaRPr sz="2400"/>
            </a:p>
            <a:p>
              <a:endParaRPr sz="2400"/>
            </a:p>
            <a:p>
              <a:endParaRPr sz="2400"/>
            </a:p>
            <a:p>
              <a:endParaRPr sz="2400"/>
            </a:p>
            <a:p>
              <a:endParaRPr sz="2400"/>
            </a:p>
          </p:txBody>
        </p:sp>
        <p:sp>
          <p:nvSpPr>
            <p:cNvPr id="86" name="Google Shape;131;p16">
              <a:extLst>
                <a:ext uri="{FF2B5EF4-FFF2-40B4-BE49-F238E27FC236}">
                  <a16:creationId xmlns:a16="http://schemas.microsoft.com/office/drawing/2014/main" id="{8A042A5D-6EBD-DA42-E881-A309429E9BD2}"/>
                </a:ext>
              </a:extLst>
            </p:cNvPr>
            <p:cNvSpPr txBox="1"/>
            <p:nvPr/>
          </p:nvSpPr>
          <p:spPr>
            <a:xfrm rot="10800000">
              <a:off x="3066234" y="3434271"/>
              <a:ext cx="1624200" cy="333900"/>
            </a:xfrm>
            <a:prstGeom prst="rect">
              <a:avLst/>
            </a:prstGeom>
            <a:noFill/>
            <a:ln>
              <a:noFill/>
            </a:ln>
          </p:spPr>
          <p:txBody>
            <a:bodyPr spcFirstLastPara="1" wrap="square" lIns="121900" tIns="121900" rIns="121900" bIns="121900" anchor="t" anchorCtr="0">
              <a:noAutofit/>
            </a:bodyPr>
            <a:lstStyle/>
            <a:p>
              <a:pPr algn="ctr"/>
              <a:r>
                <a:rPr lang="en-US" altLang="ko-KR" sz="1400" dirty="0" smtClean="0">
                  <a:solidFill>
                    <a:schemeClr val="bg1"/>
                  </a:solidFill>
                  <a:latin typeface="Calibri" panose="020F0502020204030204" pitchFamily="34" charset="0"/>
                  <a:ea typeface="Calibri" panose="020F0502020204030204" pitchFamily="34" charset="0"/>
                  <a:cs typeface="Calibri" panose="020F0502020204030204" pitchFamily="34" charset="0"/>
                </a:rPr>
                <a:t>Finally, Developing physician </a:t>
              </a:r>
              <a:r>
                <a:rPr lang="en-US" altLang="ko-KR" sz="1400" dirty="0">
                  <a:solidFill>
                    <a:schemeClr val="bg1"/>
                  </a:solidFill>
                  <a:latin typeface="Calibri" panose="020F0502020204030204" pitchFamily="34" charset="0"/>
                  <a:ea typeface="Calibri" panose="020F0502020204030204" pitchFamily="34" charset="0"/>
                  <a:cs typeface="Calibri" panose="020F0502020204030204" pitchFamily="34" charset="0"/>
                </a:rPr>
                <a:t>website along with database integration</a:t>
              </a:r>
              <a:endParaRPr lang="en-US" sz="1400" dirty="0">
                <a:solidFill>
                  <a:schemeClr val="bg1"/>
                </a:solidFill>
              </a:endParaRPr>
            </a:p>
          </p:txBody>
        </p:sp>
        <p:sp>
          <p:nvSpPr>
            <p:cNvPr id="87" name="Google Shape;132;p16">
              <a:extLst>
                <a:ext uri="{FF2B5EF4-FFF2-40B4-BE49-F238E27FC236}">
                  <a16:creationId xmlns:a16="http://schemas.microsoft.com/office/drawing/2014/main" id="{F0624C5C-45B9-0386-F537-1E22685002AA}"/>
                </a:ext>
              </a:extLst>
            </p:cNvPr>
            <p:cNvSpPr/>
            <p:nvPr/>
          </p:nvSpPr>
          <p:spPr>
            <a:xfrm>
              <a:off x="3833325" y="3004364"/>
              <a:ext cx="90000" cy="67500"/>
            </a:xfrm>
            <a:prstGeom prst="triangle">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grpSp>
        <p:nvGrpSpPr>
          <p:cNvPr id="88" name="Google Shape;127;p16">
            <a:extLst>
              <a:ext uri="{FF2B5EF4-FFF2-40B4-BE49-F238E27FC236}">
                <a16:creationId xmlns:a16="http://schemas.microsoft.com/office/drawing/2014/main" id="{7CB00868-C350-E513-8C9C-EB75ABA72279}"/>
              </a:ext>
            </a:extLst>
          </p:cNvPr>
          <p:cNvGrpSpPr/>
          <p:nvPr/>
        </p:nvGrpSpPr>
        <p:grpSpPr>
          <a:xfrm>
            <a:off x="766192" y="3981725"/>
            <a:ext cx="2283600" cy="1759199"/>
            <a:chOff x="3021975" y="2571072"/>
            <a:chExt cx="1712700" cy="1201441"/>
          </a:xfrm>
        </p:grpSpPr>
        <p:sp>
          <p:nvSpPr>
            <p:cNvPr id="90" name="Google Shape;129;p16">
              <a:extLst>
                <a:ext uri="{FF2B5EF4-FFF2-40B4-BE49-F238E27FC236}">
                  <a16:creationId xmlns:a16="http://schemas.microsoft.com/office/drawing/2014/main" id="{670E993A-E61D-71D4-2001-1C398C5F219B}"/>
                </a:ext>
              </a:extLst>
            </p:cNvPr>
            <p:cNvSpPr/>
            <p:nvPr/>
          </p:nvSpPr>
          <p:spPr>
            <a:xfrm rot="-1789476">
              <a:off x="3798091" y="2571072"/>
              <a:ext cx="160451" cy="160451"/>
            </a:xfrm>
            <a:prstGeom prst="ellipse">
              <a:avLst/>
            </a:prstGeom>
            <a:solidFill>
              <a:srgbClr val="FFFFFF"/>
            </a:solidFill>
            <a:ln w="38100" cap="flat" cmpd="sng">
              <a:solidFill>
                <a:srgbClr val="701C7F"/>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91" name="Google Shape;130;p16">
              <a:extLst>
                <a:ext uri="{FF2B5EF4-FFF2-40B4-BE49-F238E27FC236}">
                  <a16:creationId xmlns:a16="http://schemas.microsoft.com/office/drawing/2014/main" id="{B7051F7F-1F81-7760-AA96-AB29D53A80E8}"/>
                </a:ext>
              </a:extLst>
            </p:cNvPr>
            <p:cNvSpPr/>
            <p:nvPr/>
          </p:nvSpPr>
          <p:spPr>
            <a:xfrm>
              <a:off x="3021975" y="3069013"/>
              <a:ext cx="1712700" cy="703500"/>
            </a:xfrm>
            <a:prstGeom prst="roundRect">
              <a:avLst>
                <a:gd name="adj" fmla="val 4485"/>
              </a:avLst>
            </a:prstGeom>
            <a:solidFill>
              <a:srgbClr val="701C7F"/>
            </a:solidFill>
            <a:ln>
              <a:noFill/>
            </a:ln>
          </p:spPr>
          <p:txBody>
            <a:bodyPr spcFirstLastPara="1" wrap="square" lIns="121900" tIns="121900" rIns="121900" bIns="121900" anchor="ctr" anchorCtr="0">
              <a:noAutofit/>
            </a:bodyPr>
            <a:lstStyle/>
            <a:p>
              <a:endParaRPr sz="2400"/>
            </a:p>
            <a:p>
              <a:endParaRPr sz="2400"/>
            </a:p>
            <a:p>
              <a:endParaRPr sz="2400"/>
            </a:p>
            <a:p>
              <a:endParaRPr sz="2400"/>
            </a:p>
            <a:p>
              <a:endParaRPr sz="2400"/>
            </a:p>
            <a:p>
              <a:endParaRPr sz="2400"/>
            </a:p>
            <a:p>
              <a:endParaRPr sz="2400"/>
            </a:p>
          </p:txBody>
        </p:sp>
        <p:sp>
          <p:nvSpPr>
            <p:cNvPr id="92" name="Google Shape;131;p16">
              <a:extLst>
                <a:ext uri="{FF2B5EF4-FFF2-40B4-BE49-F238E27FC236}">
                  <a16:creationId xmlns:a16="http://schemas.microsoft.com/office/drawing/2014/main" id="{0C91C6DA-F199-4DC6-F970-7480CC3D59CD}"/>
                </a:ext>
              </a:extLst>
            </p:cNvPr>
            <p:cNvSpPr txBox="1"/>
            <p:nvPr/>
          </p:nvSpPr>
          <p:spPr>
            <a:xfrm>
              <a:off x="3090592" y="3148480"/>
              <a:ext cx="1624200" cy="333900"/>
            </a:xfrm>
            <a:prstGeom prst="rect">
              <a:avLst/>
            </a:prstGeom>
            <a:noFill/>
            <a:ln>
              <a:noFill/>
            </a:ln>
          </p:spPr>
          <p:txBody>
            <a:bodyPr spcFirstLastPara="1" wrap="square" lIns="121900" tIns="121900" rIns="121900" bIns="121900" anchor="t" anchorCtr="0">
              <a:noAutofit/>
            </a:bodyPr>
            <a:lstStyle/>
            <a:p>
              <a:pPr algn="ctr"/>
              <a:r>
                <a:rPr lang="en-US" altLang="ko-KR" sz="1330" dirty="0">
                  <a:solidFill>
                    <a:schemeClr val="bg1"/>
                  </a:solidFill>
                  <a:latin typeface="Roboto" panose="020B0604020202020204" charset="0"/>
                  <a:ea typeface="Roboto" panose="020B0604020202020204" charset="0"/>
                  <a:cs typeface="Roboto" panose="020B0604020202020204" charset="0"/>
                </a:rPr>
                <a:t>Learning HTML,CSS,JS,</a:t>
              </a:r>
            </a:p>
            <a:p>
              <a:pPr algn="ctr"/>
              <a:r>
                <a:rPr lang="en-US" altLang="ko-KR" sz="1330" dirty="0">
                  <a:solidFill>
                    <a:schemeClr val="bg1"/>
                  </a:solidFill>
                  <a:latin typeface="Roboto" panose="020B0604020202020204" charset="0"/>
                  <a:ea typeface="Roboto" panose="020B0604020202020204" charset="0"/>
                  <a:cs typeface="Roboto" panose="020B0604020202020204" charset="0"/>
                </a:rPr>
                <a:t>Bootstrap and </a:t>
              </a:r>
            </a:p>
            <a:p>
              <a:pPr algn="ctr"/>
              <a:r>
                <a:rPr lang="en-US" altLang="ko-KR" sz="1330" dirty="0" err="1">
                  <a:solidFill>
                    <a:schemeClr val="bg1"/>
                  </a:solidFill>
                  <a:latin typeface="Roboto" panose="020B0604020202020204" charset="0"/>
                  <a:ea typeface="Roboto" panose="020B0604020202020204" charset="0"/>
                  <a:cs typeface="Roboto" panose="020B0604020202020204" charset="0"/>
                </a:rPr>
                <a:t>Github</a:t>
              </a:r>
              <a:endParaRPr lang="ko-KR" altLang="en-US" sz="1330" dirty="0">
                <a:solidFill>
                  <a:schemeClr val="bg1"/>
                </a:solidFill>
                <a:latin typeface="Roboto" panose="020B0604020202020204" charset="0"/>
                <a:cs typeface="Roboto" panose="020B0604020202020204" charset="0"/>
              </a:endParaRPr>
            </a:p>
          </p:txBody>
        </p:sp>
        <p:sp>
          <p:nvSpPr>
            <p:cNvPr id="93" name="Google Shape;132;p16">
              <a:extLst>
                <a:ext uri="{FF2B5EF4-FFF2-40B4-BE49-F238E27FC236}">
                  <a16:creationId xmlns:a16="http://schemas.microsoft.com/office/drawing/2014/main" id="{68165883-B967-CD75-BCC8-95E04CF4CE98}"/>
                </a:ext>
              </a:extLst>
            </p:cNvPr>
            <p:cNvSpPr/>
            <p:nvPr/>
          </p:nvSpPr>
          <p:spPr>
            <a:xfrm>
              <a:off x="3833325" y="3004364"/>
              <a:ext cx="90000" cy="67500"/>
            </a:xfrm>
            <a:prstGeom prst="triangle">
              <a:avLst>
                <a:gd name="adj" fmla="val 50000"/>
              </a:avLst>
            </a:prstGeom>
            <a:solidFill>
              <a:srgbClr val="701C7F"/>
            </a:solidFill>
            <a:ln>
              <a:noFill/>
            </a:ln>
          </p:spPr>
          <p:txBody>
            <a:bodyPr spcFirstLastPara="1" wrap="square" lIns="121900" tIns="121900" rIns="121900" bIns="121900" anchor="ctr" anchorCtr="0">
              <a:noAutofit/>
            </a:bodyPr>
            <a:lstStyle/>
            <a:p>
              <a:endParaRPr sz="2400"/>
            </a:p>
          </p:txBody>
        </p:sp>
      </p:grpSp>
    </p:spTree>
    <p:extLst>
      <p:ext uri="{BB962C8B-B14F-4D97-AF65-F5344CB8AC3E}">
        <p14:creationId xmlns:p14="http://schemas.microsoft.com/office/powerpoint/2010/main" val="1505030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981DF-A354-C593-38AC-15485B0E71A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905133-D952-1FE7-9A3F-BBB1B112AC39}"/>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9" name="TextBox 8">
            <a:extLst>
              <a:ext uri="{FF2B5EF4-FFF2-40B4-BE49-F238E27FC236}">
                <a16:creationId xmlns:a16="http://schemas.microsoft.com/office/drawing/2014/main" id="{0F4A1753-BBC4-654C-5325-81D1978CB213}"/>
              </a:ext>
            </a:extLst>
          </p:cNvPr>
          <p:cNvSpPr txBox="1"/>
          <p:nvPr/>
        </p:nvSpPr>
        <p:spPr>
          <a:xfrm>
            <a:off x="863268" y="518213"/>
            <a:ext cx="10465463" cy="830997"/>
          </a:xfrm>
          <a:prstGeom prst="rect">
            <a:avLst/>
          </a:prstGeom>
          <a:noFill/>
        </p:spPr>
        <p:txBody>
          <a:bodyPr wrap="square" rtlCol="0">
            <a:spAutoFit/>
          </a:bodyPr>
          <a:lstStyle/>
          <a:p>
            <a:r>
              <a:rPr lang="en-US" sz="3600" dirty="0">
                <a:latin typeface="Calibri bold" panose="020F0702030404030204" pitchFamily="34" charset="0"/>
                <a:ea typeface="Calibri bold" panose="020F0702030404030204" pitchFamily="34" charset="0"/>
                <a:cs typeface="Calibri bold" panose="020F0702030404030204" pitchFamily="34" charset="0"/>
              </a:rPr>
              <a:t>Assigned P</a:t>
            </a:r>
            <a:r>
              <a:rPr lang="en-IN" sz="3600" dirty="0" err="1">
                <a:latin typeface="Calibri bold" panose="020F0702030404030204" pitchFamily="34" charset="0"/>
                <a:ea typeface="Calibri bold" panose="020F0702030404030204" pitchFamily="34" charset="0"/>
                <a:cs typeface="Calibri bold" panose="020F0702030404030204" pitchFamily="34" charset="0"/>
              </a:rPr>
              <a:t>roject</a:t>
            </a:r>
            <a:r>
              <a:rPr lang="en-IN" sz="4800" dirty="0">
                <a:latin typeface="Calibri bold" panose="020F0702030404030204" pitchFamily="34" charset="0"/>
                <a:ea typeface="Calibri bold" panose="020F0702030404030204" pitchFamily="34" charset="0"/>
                <a:cs typeface="Calibri bold" panose="020F0702030404030204" pitchFamily="34" charset="0"/>
              </a:rPr>
              <a:t> </a:t>
            </a:r>
          </a:p>
        </p:txBody>
      </p:sp>
      <p:sp>
        <p:nvSpPr>
          <p:cNvPr id="10" name="TextBox 9">
            <a:extLst>
              <a:ext uri="{FF2B5EF4-FFF2-40B4-BE49-F238E27FC236}">
                <a16:creationId xmlns:a16="http://schemas.microsoft.com/office/drawing/2014/main" id="{FC5635D9-93AC-5747-EE6B-E918DC390EA5}"/>
              </a:ext>
            </a:extLst>
          </p:cNvPr>
          <p:cNvSpPr txBox="1"/>
          <p:nvPr/>
        </p:nvSpPr>
        <p:spPr>
          <a:xfrm>
            <a:off x="863268" y="1599007"/>
            <a:ext cx="11499607" cy="3462486"/>
          </a:xfrm>
          <a:prstGeom prst="rect">
            <a:avLst/>
          </a:prstGeom>
          <a:noFill/>
        </p:spPr>
        <p:txBody>
          <a:bodyPr wrap="square" rtlCol="0">
            <a:spAutoFit/>
          </a:bodyPr>
          <a:lstStyle/>
          <a:p>
            <a:pPr marL="457200" indent="-457200">
              <a:buFont typeface="Arial" panose="020B0604020202020204" pitchFamily="34" charset="0"/>
              <a:buChar char="•"/>
            </a:pPr>
            <a:r>
              <a:rPr lang="en-US" sz="2400" dirty="0"/>
              <a:t>Project Name :- “</a:t>
            </a:r>
            <a:r>
              <a:rPr lang="en-US" sz="2400" dirty="0" err="1"/>
              <a:t>HalloDoc</a:t>
            </a:r>
            <a:r>
              <a:rPr lang="en-US" sz="2400" dirty="0"/>
              <a:t> Platform”</a:t>
            </a:r>
          </a:p>
          <a:p>
            <a:endParaRPr lang="en-US" sz="2400" dirty="0"/>
          </a:p>
          <a:p>
            <a:pPr marL="457200" indent="-457200">
              <a:buFont typeface="Arial" panose="020B0604020202020204" pitchFamily="34" charset="0"/>
              <a:buChar char="•"/>
            </a:pPr>
            <a:r>
              <a:rPr lang="en-US" sz="2400" b="0" i="0" dirty="0">
                <a:solidFill>
                  <a:srgbClr val="000000"/>
                </a:solidFill>
                <a:effectLst/>
                <a:latin typeface="Calibri" panose="020F0502020204030204" pitchFamily="34" charset="0"/>
              </a:rPr>
              <a:t>The platform will offer online Doctors consultation and Diagnostics services</a:t>
            </a:r>
            <a:r>
              <a:rPr lang="en-IN" sz="2400" dirty="0"/>
              <a:t>:-</a:t>
            </a:r>
          </a:p>
          <a:p>
            <a:r>
              <a:rPr lang="en-IN" sz="2400" dirty="0"/>
              <a:t>             -&gt;</a:t>
            </a:r>
            <a:r>
              <a:rPr lang="en-US" sz="2400" b="0" i="0" dirty="0">
                <a:solidFill>
                  <a:srgbClr val="000000"/>
                </a:solidFill>
                <a:effectLst/>
                <a:latin typeface="WordVisi_MSFontService"/>
              </a:rPr>
              <a:t>serves as a valuable tool for doctors to enhance patient care,</a:t>
            </a:r>
          </a:p>
          <a:p>
            <a:r>
              <a:rPr lang="en-IN" sz="2400" dirty="0"/>
              <a:t>             -&gt;</a:t>
            </a:r>
            <a:r>
              <a:rPr lang="en-US" sz="2400" b="0" i="0" dirty="0">
                <a:solidFill>
                  <a:srgbClr val="000000"/>
                </a:solidFill>
                <a:effectLst/>
                <a:latin typeface="WordVisi_MSFontService"/>
              </a:rPr>
              <a:t>streamline their work processes.</a:t>
            </a:r>
            <a:r>
              <a:rPr lang="en-IN" sz="2400" dirty="0"/>
              <a:t>,</a:t>
            </a:r>
          </a:p>
          <a:p>
            <a:r>
              <a:rPr lang="en-IN" sz="2400" dirty="0"/>
              <a:t>             -&gt;</a:t>
            </a:r>
            <a:r>
              <a:rPr lang="en-US" sz="2400" b="0" i="0" dirty="0">
                <a:solidFill>
                  <a:srgbClr val="000000"/>
                </a:solidFill>
                <a:effectLst/>
                <a:latin typeface="WordVisi_MSFontService"/>
              </a:rPr>
              <a:t>simplifies various tasks for doctors</a:t>
            </a:r>
            <a:r>
              <a:rPr lang="en-IN" sz="2400" dirty="0"/>
              <a:t>, </a:t>
            </a:r>
          </a:p>
          <a:p>
            <a:r>
              <a:rPr lang="en-IN" sz="2400" dirty="0"/>
              <a:t>             -&gt;</a:t>
            </a:r>
            <a:r>
              <a:rPr lang="en-US" sz="2400" b="0" i="0" dirty="0">
                <a:solidFill>
                  <a:srgbClr val="000000"/>
                </a:solidFill>
                <a:effectLst/>
                <a:latin typeface="Calibri" panose="020F0502020204030204" pitchFamily="34" charset="0"/>
              </a:rPr>
              <a:t>patients can utilize the website to request care for themselves.</a:t>
            </a:r>
            <a:endParaRPr lang="en-IN" sz="2400" dirty="0"/>
          </a:p>
          <a:p>
            <a:endParaRPr lang="en-IN" sz="2400" dirty="0"/>
          </a:p>
          <a:p>
            <a:pPr marL="457200" indent="-457200">
              <a:buFont typeface="Arial" panose="020B0604020202020204" pitchFamily="34" charset="0"/>
              <a:buChar char="•"/>
            </a:pPr>
            <a:r>
              <a:rPr lang="en-US" sz="2400" dirty="0"/>
              <a:t>Technology :   .dotnet</a:t>
            </a:r>
            <a:r>
              <a:rPr lang="en-IN" sz="2700" dirty="0"/>
              <a:t> </a:t>
            </a:r>
          </a:p>
        </p:txBody>
      </p:sp>
    </p:spTree>
    <p:extLst>
      <p:ext uri="{BB962C8B-B14F-4D97-AF65-F5344CB8AC3E}">
        <p14:creationId xmlns:p14="http://schemas.microsoft.com/office/powerpoint/2010/main" val="2981315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76969-4ECA-4702-4344-F6E6E419335A}"/>
              </a:ext>
            </a:extLst>
          </p:cNvPr>
          <p:cNvSpPr>
            <a:spLocks noGrp="1"/>
          </p:cNvSpPr>
          <p:nvPr>
            <p:ph type="ctrTitle"/>
          </p:nvPr>
        </p:nvSpPr>
        <p:spPr>
          <a:xfrm>
            <a:off x="1038989" y="926486"/>
            <a:ext cx="10362473" cy="443198"/>
          </a:xfrm>
        </p:spPr>
        <p:txBody>
          <a:bodyPr/>
          <a:lstStyle/>
          <a:p>
            <a:r>
              <a:rPr lang="en-IN" sz="3200" dirty="0">
                <a:latin typeface="Calibri bold" panose="020F0702030404030204" pitchFamily="34" charset="0"/>
                <a:ea typeface="Calibri bold" panose="020F0702030404030204" pitchFamily="34" charset="0"/>
                <a:cs typeface="Calibri bold" panose="020F0702030404030204" pitchFamily="34" charset="0"/>
              </a:rPr>
              <a:t>UI : Platform Login page</a:t>
            </a:r>
            <a:endParaRPr lang="en-IN" sz="2911"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4" name="Rectangle 3">
            <a:extLst>
              <a:ext uri="{FF2B5EF4-FFF2-40B4-BE49-F238E27FC236}">
                <a16:creationId xmlns:a16="http://schemas.microsoft.com/office/drawing/2014/main" id="{90EAF52B-BECF-C58C-49FD-A5D6DC8EBFD2}"/>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pic>
        <p:nvPicPr>
          <p:cNvPr id="8" name="Picture 7">
            <a:extLst>
              <a:ext uri="{FF2B5EF4-FFF2-40B4-BE49-F238E27FC236}">
                <a16:creationId xmlns:a16="http://schemas.microsoft.com/office/drawing/2014/main" id="{4C0F8AB1-8F75-80A9-BE67-591AD82345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8989" y="1706385"/>
            <a:ext cx="10114021" cy="5151615"/>
          </a:xfrm>
          <a:prstGeom prst="rect">
            <a:avLst/>
          </a:prstGeom>
        </p:spPr>
      </p:pic>
    </p:spTree>
    <p:extLst>
      <p:ext uri="{BB962C8B-B14F-4D97-AF65-F5344CB8AC3E}">
        <p14:creationId xmlns:p14="http://schemas.microsoft.com/office/powerpoint/2010/main" val="2267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EBE416-173A-92CF-A5A5-5F6F685A6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3800"/>
            <a:ext cx="12192000" cy="5664200"/>
          </a:xfrm>
          <a:prstGeom prst="rect">
            <a:avLst/>
          </a:prstGeom>
        </p:spPr>
      </p:pic>
      <p:sp>
        <p:nvSpPr>
          <p:cNvPr id="4" name="Title 1">
            <a:extLst>
              <a:ext uri="{FF2B5EF4-FFF2-40B4-BE49-F238E27FC236}">
                <a16:creationId xmlns:a16="http://schemas.microsoft.com/office/drawing/2014/main" id="{9C75D3E4-71DD-2128-9EBB-97E3599F1D76}"/>
              </a:ext>
            </a:extLst>
          </p:cNvPr>
          <p:cNvSpPr>
            <a:spLocks noGrp="1"/>
          </p:cNvSpPr>
          <p:nvPr>
            <p:ph type="title"/>
          </p:nvPr>
        </p:nvSpPr>
        <p:spPr>
          <a:xfrm>
            <a:off x="287694" y="178513"/>
            <a:ext cx="10515600" cy="1015287"/>
          </a:xfrm>
        </p:spPr>
        <p:txBody>
          <a:bodyPr/>
          <a:lstStyle/>
          <a:p>
            <a:r>
              <a:rPr lang="en-US" dirty="0"/>
              <a:t>Admin Dashboard</a:t>
            </a:r>
            <a:endParaRPr lang="en-IN" dirty="0"/>
          </a:p>
        </p:txBody>
      </p:sp>
    </p:spTree>
    <p:extLst>
      <p:ext uri="{BB962C8B-B14F-4D97-AF65-F5344CB8AC3E}">
        <p14:creationId xmlns:p14="http://schemas.microsoft.com/office/powerpoint/2010/main" val="444014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E6324B-6CB3-1D5D-A7EF-EF3A637B2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3800"/>
            <a:ext cx="12192000" cy="5664200"/>
          </a:xfrm>
          <a:prstGeom prst="rect">
            <a:avLst/>
          </a:prstGeom>
        </p:spPr>
      </p:pic>
      <p:sp>
        <p:nvSpPr>
          <p:cNvPr id="6" name="Title 1">
            <a:extLst>
              <a:ext uri="{FF2B5EF4-FFF2-40B4-BE49-F238E27FC236}">
                <a16:creationId xmlns:a16="http://schemas.microsoft.com/office/drawing/2014/main" id="{687264F2-7969-AE9A-3D7B-91807C90632F}"/>
              </a:ext>
            </a:extLst>
          </p:cNvPr>
          <p:cNvSpPr>
            <a:spLocks noGrp="1"/>
          </p:cNvSpPr>
          <p:nvPr>
            <p:ph type="title"/>
          </p:nvPr>
        </p:nvSpPr>
        <p:spPr>
          <a:xfrm>
            <a:off x="335902" y="131341"/>
            <a:ext cx="10515600" cy="1062459"/>
          </a:xfrm>
        </p:spPr>
        <p:txBody>
          <a:bodyPr/>
          <a:lstStyle/>
          <a:p>
            <a:r>
              <a:rPr lang="en-US" dirty="0"/>
              <a:t>Patient Dashboard</a:t>
            </a:r>
            <a:endParaRPr lang="en-IN" dirty="0"/>
          </a:p>
        </p:txBody>
      </p:sp>
    </p:spTree>
    <p:extLst>
      <p:ext uri="{BB962C8B-B14F-4D97-AF65-F5344CB8AC3E}">
        <p14:creationId xmlns:p14="http://schemas.microsoft.com/office/powerpoint/2010/main" val="1700388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B172CD-3FCD-2261-04F5-53828139A634}"/>
              </a:ext>
            </a:extLst>
          </p:cNvPr>
          <p:cNvPicPr>
            <a:picLocks noChangeAspect="1"/>
          </p:cNvPicPr>
          <p:nvPr/>
        </p:nvPicPr>
        <p:blipFill>
          <a:blip r:embed="rId2"/>
          <a:stretch>
            <a:fillRect/>
          </a:stretch>
        </p:blipFill>
        <p:spPr>
          <a:xfrm>
            <a:off x="0" y="933060"/>
            <a:ext cx="12192000" cy="5924939"/>
          </a:xfrm>
          <a:prstGeom prst="rect">
            <a:avLst/>
          </a:prstGeom>
        </p:spPr>
      </p:pic>
      <p:sp>
        <p:nvSpPr>
          <p:cNvPr id="5" name="Title 1">
            <a:extLst>
              <a:ext uri="{FF2B5EF4-FFF2-40B4-BE49-F238E27FC236}">
                <a16:creationId xmlns:a16="http://schemas.microsoft.com/office/drawing/2014/main" id="{E0320994-60E7-4BCF-4DFA-67C815EE5888}"/>
              </a:ext>
            </a:extLst>
          </p:cNvPr>
          <p:cNvSpPr>
            <a:spLocks noGrp="1"/>
          </p:cNvSpPr>
          <p:nvPr>
            <p:ph type="title"/>
          </p:nvPr>
        </p:nvSpPr>
        <p:spPr>
          <a:xfrm>
            <a:off x="167951" y="158620"/>
            <a:ext cx="10476639" cy="774440"/>
          </a:xfrm>
        </p:spPr>
        <p:txBody>
          <a:bodyPr/>
          <a:lstStyle/>
          <a:p>
            <a:r>
              <a:rPr lang="en-US" dirty="0"/>
              <a:t>Patient Profile Page</a:t>
            </a:r>
            <a:endParaRPr lang="en-IN" dirty="0"/>
          </a:p>
        </p:txBody>
      </p:sp>
    </p:spTree>
    <p:extLst>
      <p:ext uri="{BB962C8B-B14F-4D97-AF65-F5344CB8AC3E}">
        <p14:creationId xmlns:p14="http://schemas.microsoft.com/office/powerpoint/2010/main" val="362627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CF0D8-9600-264E-C616-F2715799B394}"/>
              </a:ext>
            </a:extLst>
          </p:cNvPr>
          <p:cNvSpPr>
            <a:spLocks noGrp="1"/>
          </p:cNvSpPr>
          <p:nvPr>
            <p:ph type="title"/>
          </p:nvPr>
        </p:nvSpPr>
        <p:spPr>
          <a:xfrm>
            <a:off x="279918" y="0"/>
            <a:ext cx="10235682" cy="1007705"/>
          </a:xfrm>
        </p:spPr>
        <p:txBody>
          <a:bodyPr/>
          <a:lstStyle/>
          <a:p>
            <a:r>
              <a:rPr lang="en-US" dirty="0"/>
              <a:t>View Document Page</a:t>
            </a:r>
            <a:endParaRPr lang="en-IN" dirty="0"/>
          </a:p>
        </p:txBody>
      </p:sp>
      <p:pic>
        <p:nvPicPr>
          <p:cNvPr id="5" name="Picture 4">
            <a:extLst>
              <a:ext uri="{FF2B5EF4-FFF2-40B4-BE49-F238E27FC236}">
                <a16:creationId xmlns:a16="http://schemas.microsoft.com/office/drawing/2014/main" id="{DADB8196-BBB5-53A0-0D0A-392F941127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3800"/>
            <a:ext cx="12192000" cy="5664200"/>
          </a:xfrm>
          <a:prstGeom prst="rect">
            <a:avLst/>
          </a:prstGeom>
        </p:spPr>
      </p:pic>
    </p:spTree>
    <p:extLst>
      <p:ext uri="{BB962C8B-B14F-4D97-AF65-F5344CB8AC3E}">
        <p14:creationId xmlns:p14="http://schemas.microsoft.com/office/powerpoint/2010/main" val="623243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0145A-B04D-D1E2-DCAE-E4C3C144CCA9}"/>
              </a:ext>
            </a:extLst>
          </p:cNvPr>
          <p:cNvSpPr>
            <a:spLocks noGrp="1"/>
          </p:cNvSpPr>
          <p:nvPr>
            <p:ph type="title"/>
          </p:nvPr>
        </p:nvSpPr>
        <p:spPr>
          <a:xfrm>
            <a:off x="315686" y="94537"/>
            <a:ext cx="10515600" cy="1043797"/>
          </a:xfrm>
        </p:spPr>
        <p:txBody>
          <a:bodyPr/>
          <a:lstStyle/>
          <a:p>
            <a:r>
              <a:rPr lang="en-US" dirty="0"/>
              <a:t>Create Patient Request Page</a:t>
            </a:r>
            <a:endParaRPr lang="en-IN" dirty="0"/>
          </a:p>
        </p:txBody>
      </p:sp>
      <p:pic>
        <p:nvPicPr>
          <p:cNvPr id="5" name="Picture 4">
            <a:extLst>
              <a:ext uri="{FF2B5EF4-FFF2-40B4-BE49-F238E27FC236}">
                <a16:creationId xmlns:a16="http://schemas.microsoft.com/office/drawing/2014/main" id="{14174EBD-BC34-DE50-6F81-52C2601EBA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59632"/>
            <a:ext cx="12192000" cy="5598367"/>
          </a:xfrm>
          <a:prstGeom prst="rect">
            <a:avLst/>
          </a:prstGeom>
        </p:spPr>
      </p:pic>
    </p:spTree>
    <p:extLst>
      <p:ext uri="{BB962C8B-B14F-4D97-AF65-F5344CB8AC3E}">
        <p14:creationId xmlns:p14="http://schemas.microsoft.com/office/powerpoint/2010/main" val="1644205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8BCE6-AE1B-B1BB-8D67-8AAFCDBCB9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8A76FA-4CA5-6AA2-B619-B5799BE17882}"/>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9" name="Google Shape;157;p19">
            <a:extLst>
              <a:ext uri="{FF2B5EF4-FFF2-40B4-BE49-F238E27FC236}">
                <a16:creationId xmlns:a16="http://schemas.microsoft.com/office/drawing/2014/main" id="{A4BE335A-CE2B-2B26-7709-FC3E87588779}"/>
              </a:ext>
            </a:extLst>
          </p:cNvPr>
          <p:cNvSpPr txBox="1">
            <a:spLocks/>
          </p:cNvSpPr>
          <p:nvPr/>
        </p:nvSpPr>
        <p:spPr>
          <a:xfrm>
            <a:off x="900100" y="2003367"/>
            <a:ext cx="10251600" cy="4382000"/>
          </a:xfrm>
          <a:prstGeom prst="rect">
            <a:avLst/>
          </a:prstGeom>
        </p:spPr>
        <p:txBody>
          <a:bodyPr spcFirstLastPara="1" vert="horz" wrap="square" lIns="121900" tIns="121900" rIns="121900" bIns="121900"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457189">
              <a:buSzPts val="1800"/>
            </a:pPr>
            <a:r>
              <a:rPr lang="en-IN" sz="2667">
                <a:latin typeface="Trebuchet MS" panose="020B0603020202020204" pitchFamily="34" charset="0"/>
              </a:rPr>
              <a:t>Front-end: HTML, CSS, JavaScript and Bootstrap.</a:t>
            </a:r>
          </a:p>
          <a:p>
            <a:pPr indent="-457189">
              <a:buSzPts val="1800"/>
            </a:pPr>
            <a:endParaRPr lang="en-IN" sz="2667">
              <a:latin typeface="Trebuchet MS" panose="020B0603020202020204" pitchFamily="34" charset="0"/>
            </a:endParaRPr>
          </a:p>
          <a:p>
            <a:pPr indent="-457189">
              <a:buSzPts val="1800"/>
            </a:pPr>
            <a:r>
              <a:rPr lang="en-IN" sz="2667">
                <a:latin typeface="Trebuchet MS" panose="020B0603020202020204" pitchFamily="34" charset="0"/>
              </a:rPr>
              <a:t>Back-end: ASP .NET Core MVC, ASP .NET Core API</a:t>
            </a:r>
          </a:p>
          <a:p>
            <a:pPr indent="-457189">
              <a:buSzPts val="1800"/>
            </a:pPr>
            <a:endParaRPr lang="en-IN" sz="2667">
              <a:latin typeface="Trebuchet MS" panose="020B0603020202020204" pitchFamily="34" charset="0"/>
            </a:endParaRPr>
          </a:p>
          <a:p>
            <a:pPr indent="-457189">
              <a:buSzPts val="1800"/>
            </a:pPr>
            <a:r>
              <a:rPr lang="en-IN" sz="2667">
                <a:latin typeface="Trebuchet MS" panose="020B0603020202020204" pitchFamily="34" charset="0"/>
              </a:rPr>
              <a:t>Database: PostgreSQL</a:t>
            </a:r>
          </a:p>
          <a:p>
            <a:pPr indent="-457189">
              <a:buSzPts val="1800"/>
            </a:pPr>
            <a:endParaRPr lang="en-IN" sz="2667">
              <a:latin typeface="Trebuchet MS" panose="020B0603020202020204" pitchFamily="34" charset="0"/>
            </a:endParaRPr>
          </a:p>
          <a:p>
            <a:pPr indent="-457189">
              <a:buSzPts val="1800"/>
            </a:pPr>
            <a:r>
              <a:rPr lang="en-IN" sz="2667">
                <a:latin typeface="Trebuchet MS" panose="020B0603020202020204" pitchFamily="34" charset="0"/>
              </a:rPr>
              <a:t>Tools/IDE: Visual Studio 2019, Visual Studio Code 2022</a:t>
            </a:r>
          </a:p>
          <a:p>
            <a:pPr marL="152396" indent="0">
              <a:buSzPts val="1800"/>
              <a:buFont typeface="Arial" panose="020B0604020202020204" pitchFamily="34" charset="0"/>
              <a:buNone/>
            </a:pPr>
            <a:endParaRPr lang="en-IN" sz="2667">
              <a:latin typeface="Trebuchet MS" panose="020B0603020202020204" pitchFamily="34" charset="0"/>
            </a:endParaRPr>
          </a:p>
          <a:p>
            <a:pPr indent="-457189">
              <a:buSzPts val="1800"/>
            </a:pPr>
            <a:r>
              <a:rPr lang="en-IN" sz="2667">
                <a:latin typeface="Trebuchet MS" panose="020B0603020202020204" pitchFamily="34" charset="0"/>
              </a:rPr>
              <a:t>Source Control Repository: Github </a:t>
            </a:r>
          </a:p>
          <a:p>
            <a:pPr indent="0">
              <a:spcBef>
                <a:spcPts val="1600"/>
              </a:spcBef>
              <a:spcAft>
                <a:spcPts val="1600"/>
              </a:spcAft>
              <a:buFont typeface="Arial" panose="020B0604020202020204" pitchFamily="34" charset="0"/>
              <a:buNone/>
            </a:pPr>
            <a:endParaRPr lang="en-IN" dirty="0"/>
          </a:p>
        </p:txBody>
      </p:sp>
      <p:sp>
        <p:nvSpPr>
          <p:cNvPr id="11" name="Google Shape;156;p19">
            <a:extLst>
              <a:ext uri="{FF2B5EF4-FFF2-40B4-BE49-F238E27FC236}">
                <a16:creationId xmlns:a16="http://schemas.microsoft.com/office/drawing/2014/main" id="{D95068A8-5A7B-8C0E-C1BE-30D9DC04617F}"/>
              </a:ext>
            </a:extLst>
          </p:cNvPr>
          <p:cNvSpPr txBox="1">
            <a:spLocks noGrp="1"/>
          </p:cNvSpPr>
          <p:nvPr>
            <p:ph type="title"/>
          </p:nvPr>
        </p:nvSpPr>
        <p:spPr>
          <a:xfrm>
            <a:off x="900100" y="786767"/>
            <a:ext cx="10251600" cy="713600"/>
          </a:xfrm>
          <a:prstGeom prst="rect">
            <a:avLst/>
          </a:prstGeom>
        </p:spPr>
        <p:txBody>
          <a:bodyPr spcFirstLastPara="1" vert="horz" wrap="square" lIns="121900" tIns="121900" rIns="121900" bIns="121900" rtlCol="0" anchor="t" anchorCtr="0">
            <a:normAutofit fontScale="90000"/>
          </a:bodyPr>
          <a:lstStyle/>
          <a:p>
            <a:r>
              <a:rPr lang="en" dirty="0"/>
              <a:t>Technology Used</a:t>
            </a:r>
            <a:endParaRPr dirty="0"/>
          </a:p>
        </p:txBody>
      </p:sp>
    </p:spTree>
    <p:extLst>
      <p:ext uri="{BB962C8B-B14F-4D97-AF65-F5344CB8AC3E}">
        <p14:creationId xmlns:p14="http://schemas.microsoft.com/office/powerpoint/2010/main" val="1795294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76FA2-EE9F-AC0E-BA00-9F23892C46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2263ED-5227-D475-CF5B-E1410AF05644}"/>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940"/>
          </a:p>
        </p:txBody>
      </p:sp>
      <p:sp>
        <p:nvSpPr>
          <p:cNvPr id="5" name="TextBox 4">
            <a:extLst>
              <a:ext uri="{FF2B5EF4-FFF2-40B4-BE49-F238E27FC236}">
                <a16:creationId xmlns:a16="http://schemas.microsoft.com/office/drawing/2014/main" id="{49213AF9-5095-8525-CB49-F8614DEF7FFC}"/>
              </a:ext>
            </a:extLst>
          </p:cNvPr>
          <p:cNvSpPr txBox="1"/>
          <p:nvPr/>
        </p:nvSpPr>
        <p:spPr>
          <a:xfrm>
            <a:off x="1077126" y="665866"/>
            <a:ext cx="6746331" cy="540276"/>
          </a:xfrm>
          <a:prstGeom prst="rect">
            <a:avLst/>
          </a:prstGeom>
          <a:noFill/>
        </p:spPr>
        <p:txBody>
          <a:bodyPr wrap="square" rtlCol="0">
            <a:spAutoFit/>
          </a:bodyPr>
          <a:lstStyle/>
          <a:p>
            <a:r>
              <a:rPr lang="en-IN" sz="2911" dirty="0">
                <a:latin typeface="Calibri bold" panose="020F0702030404030204" pitchFamily="34" charset="0"/>
                <a:ea typeface="Calibri bold" panose="020F0702030404030204" pitchFamily="34" charset="0"/>
                <a:cs typeface="Calibri bold" panose="020F0702030404030204" pitchFamily="34" charset="0"/>
              </a:rPr>
              <a:t>Outline of Work Done</a:t>
            </a:r>
          </a:p>
        </p:txBody>
      </p:sp>
      <p:sp>
        <p:nvSpPr>
          <p:cNvPr id="4" name="Google Shape;163;p20">
            <a:extLst>
              <a:ext uri="{FF2B5EF4-FFF2-40B4-BE49-F238E27FC236}">
                <a16:creationId xmlns:a16="http://schemas.microsoft.com/office/drawing/2014/main" id="{B2BBCE77-825C-BA0B-F904-8DC87244D248}"/>
              </a:ext>
            </a:extLst>
          </p:cNvPr>
          <p:cNvSpPr txBox="1">
            <a:spLocks noGrp="1"/>
          </p:cNvSpPr>
          <p:nvPr/>
        </p:nvSpPr>
        <p:spPr>
          <a:xfrm>
            <a:off x="1077126" y="1436914"/>
            <a:ext cx="8058677" cy="3359020"/>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120650" indent="0" algn="just">
              <a:buClr>
                <a:schemeClr val="dk1"/>
              </a:buClr>
              <a:buSzPts val="1700"/>
              <a:buNone/>
            </a:pPr>
            <a:endParaRPr lang="en-IN" sz="1800" dirty="0">
              <a:solidFill>
                <a:schemeClr val="bg2"/>
              </a:solidFill>
              <a:latin typeface="Trebuchet MS" panose="020B0603020202020204" pitchFamily="34" charset="0"/>
            </a:endParaRPr>
          </a:p>
          <a:p>
            <a:pPr marL="463550" indent="-342900" algn="just">
              <a:buClr>
                <a:schemeClr val="dk1"/>
              </a:buClr>
              <a:buSzPts val="1700"/>
            </a:pPr>
            <a:r>
              <a:rPr lang="en-IN" sz="1800" dirty="0">
                <a:solidFill>
                  <a:schemeClr val="tx1"/>
                </a:solidFill>
                <a:latin typeface="Trebuchet MS" panose="020B0603020202020204" pitchFamily="34" charset="0"/>
              </a:rPr>
              <a:t>Assignments based on learning of front-end development concepts.</a:t>
            </a:r>
          </a:p>
          <a:p>
            <a:pPr marL="120650" indent="0" algn="just">
              <a:buClr>
                <a:schemeClr val="dk1"/>
              </a:buClr>
              <a:buSzPts val="1700"/>
              <a:buNone/>
            </a:pPr>
            <a:endParaRPr lang="en-IN" sz="1800" dirty="0">
              <a:solidFill>
                <a:schemeClr val="tx1"/>
              </a:solidFill>
              <a:latin typeface="Trebuchet MS" panose="020B0603020202020204" pitchFamily="34" charset="0"/>
            </a:endParaRPr>
          </a:p>
          <a:p>
            <a:pPr marL="463550" indent="-342900" algn="just">
              <a:buClr>
                <a:schemeClr val="dk1"/>
              </a:buClr>
              <a:buSzPts val="1700"/>
            </a:pPr>
            <a:r>
              <a:rPr lang="en-IN" sz="1800" dirty="0">
                <a:solidFill>
                  <a:schemeClr val="tx1"/>
                </a:solidFill>
                <a:latin typeface="Trebuchet MS" panose="020B0603020202020204" pitchFamily="34" charset="0"/>
              </a:rPr>
              <a:t>Basic and advanced concepts of HTML, CSS, JS and Bootstrap.</a:t>
            </a:r>
          </a:p>
          <a:p>
            <a:pPr marL="120650" indent="0" algn="just">
              <a:buClr>
                <a:schemeClr val="dk1"/>
              </a:buClr>
              <a:buSzPts val="1700"/>
              <a:buNone/>
            </a:pPr>
            <a:endParaRPr lang="en-US" sz="1800" dirty="0">
              <a:solidFill>
                <a:schemeClr val="tx1"/>
              </a:solidFill>
              <a:latin typeface="Trebuchet MS" panose="020B0603020202020204" pitchFamily="34" charset="0"/>
            </a:endParaRPr>
          </a:p>
          <a:p>
            <a:pPr marL="463550" indent="-342900" algn="just">
              <a:buClr>
                <a:schemeClr val="dk1"/>
              </a:buClr>
              <a:buSzPts val="1700"/>
            </a:pPr>
            <a:r>
              <a:rPr lang="en-US" sz="1800" dirty="0">
                <a:solidFill>
                  <a:schemeClr val="tx1"/>
                </a:solidFill>
                <a:latin typeface="Trebuchet MS" panose="020B0603020202020204" pitchFamily="34" charset="0"/>
              </a:rPr>
              <a:t>Creating and Integrating UI pages of Patient Side of project </a:t>
            </a:r>
            <a:r>
              <a:rPr lang="en-US" sz="1800" dirty="0" err="1">
                <a:solidFill>
                  <a:schemeClr val="tx1"/>
                </a:solidFill>
                <a:latin typeface="Trebuchet MS" panose="020B0603020202020204" pitchFamily="34" charset="0"/>
              </a:rPr>
              <a:t>HalloDoc</a:t>
            </a:r>
            <a:r>
              <a:rPr lang="en-US" sz="1800" dirty="0">
                <a:solidFill>
                  <a:schemeClr val="tx1"/>
                </a:solidFill>
                <a:latin typeface="Trebuchet MS" panose="020B0603020202020204" pitchFamily="34" charset="0"/>
              </a:rPr>
              <a:t>.</a:t>
            </a:r>
          </a:p>
          <a:p>
            <a:pPr marL="120650" indent="0" algn="just">
              <a:buClr>
                <a:schemeClr val="dk1"/>
              </a:buClr>
              <a:buSzPts val="1700"/>
              <a:buNone/>
            </a:pPr>
            <a:endParaRPr lang="en-US" sz="1800" dirty="0">
              <a:solidFill>
                <a:schemeClr val="tx1"/>
              </a:solidFill>
              <a:latin typeface="Trebuchet MS" panose="020B0603020202020204" pitchFamily="34" charset="0"/>
            </a:endParaRPr>
          </a:p>
          <a:p>
            <a:pPr marL="463550" indent="-342900" algn="just">
              <a:buClr>
                <a:schemeClr val="dk1"/>
              </a:buClr>
              <a:buSzPts val="1700"/>
            </a:pPr>
            <a:r>
              <a:rPr lang="en-US" sz="1800" dirty="0">
                <a:solidFill>
                  <a:schemeClr val="tx1"/>
                </a:solidFill>
                <a:latin typeface="Trebuchet MS" panose="020B0603020202020204" pitchFamily="34" charset="0"/>
              </a:rPr>
              <a:t>Converting whole project from 1-tier to n-tier</a:t>
            </a:r>
          </a:p>
          <a:p>
            <a:pPr marL="463550" indent="-342900" algn="just">
              <a:buClr>
                <a:schemeClr val="dk1"/>
              </a:buClr>
              <a:buSzPts val="1700"/>
            </a:pPr>
            <a:endParaRPr lang="en-IN" sz="1800" dirty="0">
              <a:solidFill>
                <a:schemeClr val="tx1"/>
              </a:solidFill>
              <a:latin typeface="Trebuchet MS" panose="020B0603020202020204" pitchFamily="34" charset="0"/>
            </a:endParaRPr>
          </a:p>
          <a:p>
            <a:pPr marL="463550" indent="-342900" algn="just">
              <a:buClr>
                <a:schemeClr val="dk1"/>
              </a:buClr>
              <a:buSzPts val="1700"/>
            </a:pPr>
            <a:r>
              <a:rPr lang="en-US" sz="1800" dirty="0">
                <a:solidFill>
                  <a:schemeClr val="tx1"/>
                </a:solidFill>
                <a:latin typeface="Trebuchet MS" panose="020B0603020202020204" pitchFamily="34" charset="0"/>
              </a:rPr>
              <a:t>Creating and integrating Admin Dashboard and other few pages of Admin Side.</a:t>
            </a:r>
          </a:p>
          <a:p>
            <a:pPr marL="120650" indent="0" algn="just">
              <a:buClr>
                <a:schemeClr val="dk1"/>
              </a:buClr>
              <a:buSzPts val="1700"/>
              <a:buNone/>
            </a:pPr>
            <a:endParaRPr sz="1800" dirty="0">
              <a:solidFill>
                <a:schemeClr val="bg2"/>
              </a:solidFill>
              <a:latin typeface="Trebuchet MS" panose="020B0603020202020204" pitchFamily="34" charset="0"/>
            </a:endParaRPr>
          </a:p>
        </p:txBody>
      </p:sp>
    </p:spTree>
    <p:extLst>
      <p:ext uri="{BB962C8B-B14F-4D97-AF65-F5344CB8AC3E}">
        <p14:creationId xmlns:p14="http://schemas.microsoft.com/office/powerpoint/2010/main" val="9107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72DD0-F2D8-3BCE-1BAF-6F40C0D889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ECCFF25-0CCA-1C05-8A56-2ED6B288952A}"/>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940"/>
          </a:p>
        </p:txBody>
      </p:sp>
      <p:sp>
        <p:nvSpPr>
          <p:cNvPr id="3" name="Google Shape;162;p20">
            <a:extLst>
              <a:ext uri="{FF2B5EF4-FFF2-40B4-BE49-F238E27FC236}">
                <a16:creationId xmlns:a16="http://schemas.microsoft.com/office/drawing/2014/main" id="{96675252-34AF-E22C-1D2A-860C66F07A23}"/>
              </a:ext>
            </a:extLst>
          </p:cNvPr>
          <p:cNvSpPr txBox="1">
            <a:spLocks noGrp="1"/>
          </p:cNvSpPr>
          <p:nvPr/>
        </p:nvSpPr>
        <p:spPr>
          <a:xfrm>
            <a:off x="945364" y="558160"/>
            <a:ext cx="7688700" cy="53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marL="0" lvl="0" indent="0" algn="l" rtl="0">
              <a:spcBef>
                <a:spcPts val="0"/>
              </a:spcBef>
              <a:spcAft>
                <a:spcPts val="0"/>
              </a:spcAft>
              <a:buNone/>
            </a:pPr>
            <a:r>
              <a:rPr lang="en" sz="2800" b="1" dirty="0">
                <a:solidFill>
                  <a:schemeClr val="dk2"/>
                </a:solidFill>
              </a:rPr>
              <a:t>Conclusion</a:t>
            </a:r>
            <a:endParaRPr sz="2800" b="1" dirty="0">
              <a:solidFill>
                <a:schemeClr val="dk2"/>
              </a:solidFill>
            </a:endParaRPr>
          </a:p>
        </p:txBody>
      </p:sp>
      <p:sp>
        <p:nvSpPr>
          <p:cNvPr id="6" name="Google Shape;163;p20">
            <a:extLst>
              <a:ext uri="{FF2B5EF4-FFF2-40B4-BE49-F238E27FC236}">
                <a16:creationId xmlns:a16="http://schemas.microsoft.com/office/drawing/2014/main" id="{1BE1B84D-BB04-73FB-BD23-84C24FD331F8}"/>
              </a:ext>
            </a:extLst>
          </p:cNvPr>
          <p:cNvSpPr txBox="1">
            <a:spLocks noGrp="1"/>
          </p:cNvSpPr>
          <p:nvPr/>
        </p:nvSpPr>
        <p:spPr>
          <a:xfrm>
            <a:off x="945363" y="1422312"/>
            <a:ext cx="10493967" cy="401337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463550" indent="-342900" algn="just">
              <a:buClr>
                <a:schemeClr val="dk1"/>
              </a:buClr>
              <a:buSzPts val="1700"/>
            </a:pPr>
            <a:r>
              <a:rPr lang="en-US" sz="2400" dirty="0">
                <a:solidFill>
                  <a:schemeClr val="tx1"/>
                </a:solidFill>
                <a:latin typeface="Trebuchet MS" panose="020B0603020202020204" pitchFamily="34" charset="0"/>
              </a:rPr>
              <a:t>Till now, We learnt frontend creation using html, </a:t>
            </a:r>
            <a:r>
              <a:rPr lang="en-US" sz="2400" dirty="0" err="1">
                <a:solidFill>
                  <a:schemeClr val="tx1"/>
                </a:solidFill>
                <a:latin typeface="Trebuchet MS" panose="020B0603020202020204" pitchFamily="34" charset="0"/>
              </a:rPr>
              <a:t>css</a:t>
            </a:r>
            <a:r>
              <a:rPr lang="en-US" sz="2400" dirty="0">
                <a:solidFill>
                  <a:schemeClr val="tx1"/>
                </a:solidFill>
                <a:latin typeface="Trebuchet MS" panose="020B0603020202020204" pitchFamily="34" charset="0"/>
              </a:rPr>
              <a:t>, </a:t>
            </a:r>
            <a:r>
              <a:rPr lang="en-US" sz="2400" dirty="0" err="1">
                <a:solidFill>
                  <a:schemeClr val="tx1"/>
                </a:solidFill>
                <a:latin typeface="Trebuchet MS" panose="020B0603020202020204" pitchFamily="34" charset="0"/>
              </a:rPr>
              <a:t>js</a:t>
            </a:r>
            <a:r>
              <a:rPr lang="en-US" sz="2400" dirty="0">
                <a:solidFill>
                  <a:schemeClr val="tx1"/>
                </a:solidFill>
                <a:latin typeface="Trebuchet MS" panose="020B0603020202020204" pitchFamily="34" charset="0"/>
              </a:rPr>
              <a:t> and database creation and integration and advanced concepts of ASP .NET Core MVC 7.</a:t>
            </a:r>
            <a:r>
              <a:rPr lang="en-US" sz="2400" dirty="0">
                <a:solidFill>
                  <a:schemeClr val="bg2"/>
                </a:solidFill>
                <a:latin typeface="Trebuchet MS" panose="020B0603020202020204" pitchFamily="34" charset="0"/>
              </a:rPr>
              <a:t> </a:t>
            </a:r>
            <a:r>
              <a:rPr lang="en-US" sz="2400" dirty="0">
                <a:solidFill>
                  <a:schemeClr val="tx1"/>
                </a:solidFill>
                <a:latin typeface="Trebuchet MS" panose="020B0603020202020204" pitchFamily="34" charset="0"/>
              </a:rPr>
              <a:t>The learning and implementing of concepts helped us to build our internship project.</a:t>
            </a:r>
          </a:p>
          <a:p>
            <a:pPr marL="120650" indent="0" algn="just">
              <a:buClr>
                <a:schemeClr val="dk1"/>
              </a:buClr>
              <a:buSzPts val="1700"/>
              <a:buNone/>
            </a:pPr>
            <a:endParaRPr lang="en-US" sz="2400" dirty="0">
              <a:solidFill>
                <a:schemeClr val="tx1"/>
              </a:solidFill>
              <a:latin typeface="Trebuchet MS" panose="020B0603020202020204" pitchFamily="34" charset="0"/>
            </a:endParaRPr>
          </a:p>
          <a:p>
            <a:pPr marL="463550" indent="-342900" algn="just">
              <a:buClr>
                <a:schemeClr val="dk1"/>
              </a:buClr>
              <a:buSzPts val="1700"/>
            </a:pPr>
            <a:endParaRPr lang="en-US" sz="2400" dirty="0">
              <a:solidFill>
                <a:schemeClr val="tx1"/>
              </a:solidFill>
              <a:latin typeface="Trebuchet MS" panose="020B0603020202020204" pitchFamily="34" charset="0"/>
            </a:endParaRPr>
          </a:p>
          <a:p>
            <a:pPr marL="463550" indent="-342900" algn="just">
              <a:buClr>
                <a:schemeClr val="dk1"/>
              </a:buClr>
              <a:buSzPts val="1700"/>
            </a:pPr>
            <a:r>
              <a:rPr lang="en-US" sz="2400" dirty="0">
                <a:solidFill>
                  <a:schemeClr val="tx1"/>
                </a:solidFill>
                <a:latin typeface="Trebuchet MS" panose="020B0603020202020204" pitchFamily="34" charset="0"/>
              </a:rPr>
              <a:t>Along with that, working with professionals enhanced our communication skills, teamwork and problem-solving abilities.</a:t>
            </a:r>
          </a:p>
        </p:txBody>
      </p:sp>
    </p:spTree>
    <p:extLst>
      <p:ext uri="{BB962C8B-B14F-4D97-AF65-F5344CB8AC3E}">
        <p14:creationId xmlns:p14="http://schemas.microsoft.com/office/powerpoint/2010/main" val="261868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B5AD2-4535-A366-78FC-BE6058CBA4D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08245E-E819-4EA9-38B2-29D5E3FA9BD5}"/>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940"/>
          </a:p>
        </p:txBody>
      </p:sp>
      <p:sp>
        <p:nvSpPr>
          <p:cNvPr id="4" name="Google Shape;163;p20">
            <a:extLst>
              <a:ext uri="{FF2B5EF4-FFF2-40B4-BE49-F238E27FC236}">
                <a16:creationId xmlns:a16="http://schemas.microsoft.com/office/drawing/2014/main" id="{6638130D-9558-C12A-DD11-DE9F26B40883}"/>
              </a:ext>
            </a:extLst>
          </p:cNvPr>
          <p:cNvSpPr txBox="1">
            <a:spLocks noGrp="1"/>
          </p:cNvSpPr>
          <p:nvPr/>
        </p:nvSpPr>
        <p:spPr>
          <a:xfrm>
            <a:off x="1533192" y="1883571"/>
            <a:ext cx="8375917" cy="371479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463550" indent="-342900" algn="just">
              <a:buClr>
                <a:schemeClr val="dk1"/>
              </a:buClr>
              <a:buSzPts val="1700"/>
            </a:pPr>
            <a:r>
              <a:rPr lang="en-IN" sz="2400" dirty="0">
                <a:solidFill>
                  <a:schemeClr val="tx1"/>
                </a:solidFill>
                <a:latin typeface="Trebuchet MS" panose="020B0603020202020204" pitchFamily="34" charset="0"/>
              </a:rPr>
              <a:t>Company website: </a:t>
            </a:r>
            <a:r>
              <a:rPr lang="en-IN" sz="2400" dirty="0">
                <a:solidFill>
                  <a:schemeClr val="bg2"/>
                </a:solidFill>
                <a:latin typeface="Trebuchet MS" panose="020B0603020202020204" pitchFamily="34" charset="0"/>
                <a:hlinkClick r:id="rId2"/>
              </a:rPr>
              <a:t>https://www.tatvasoft.com/</a:t>
            </a:r>
            <a:endParaRPr lang="en-IN" sz="2400" dirty="0">
              <a:solidFill>
                <a:schemeClr val="bg2"/>
              </a:solidFill>
              <a:latin typeface="Trebuchet MS" panose="020B0603020202020204" pitchFamily="34" charset="0"/>
            </a:endParaRPr>
          </a:p>
          <a:p>
            <a:pPr marL="463550" indent="-342900" algn="just">
              <a:buClr>
                <a:schemeClr val="dk1"/>
              </a:buClr>
              <a:buSzPts val="1700"/>
            </a:pPr>
            <a:endParaRPr lang="en-IN" sz="2400" dirty="0">
              <a:solidFill>
                <a:schemeClr val="bg2"/>
              </a:solidFill>
              <a:latin typeface="Trebuchet MS" panose="020B0603020202020204" pitchFamily="34" charset="0"/>
            </a:endParaRPr>
          </a:p>
          <a:p>
            <a:pPr marL="463550" indent="-342900" algn="just">
              <a:buClr>
                <a:schemeClr val="dk1"/>
              </a:buClr>
              <a:buSzPts val="1700"/>
            </a:pPr>
            <a:r>
              <a:rPr lang="en-IN" sz="2400" dirty="0">
                <a:solidFill>
                  <a:schemeClr val="tx1"/>
                </a:solidFill>
                <a:latin typeface="Trebuchet MS" panose="020B0603020202020204" pitchFamily="34" charset="0"/>
              </a:rPr>
              <a:t>Project SRS</a:t>
            </a:r>
          </a:p>
          <a:p>
            <a:pPr marL="120650" indent="0" algn="just">
              <a:buClr>
                <a:schemeClr val="dk1"/>
              </a:buClr>
              <a:buSzPts val="1700"/>
              <a:buNone/>
            </a:pPr>
            <a:endParaRPr lang="en-IN" sz="2000" dirty="0">
              <a:solidFill>
                <a:schemeClr val="bg2"/>
              </a:solidFill>
              <a:latin typeface="Trebuchet MS" panose="020B0603020202020204" pitchFamily="34" charset="0"/>
            </a:endParaRPr>
          </a:p>
        </p:txBody>
      </p:sp>
      <p:sp>
        <p:nvSpPr>
          <p:cNvPr id="6" name="Google Shape;162;p20">
            <a:extLst>
              <a:ext uri="{FF2B5EF4-FFF2-40B4-BE49-F238E27FC236}">
                <a16:creationId xmlns:a16="http://schemas.microsoft.com/office/drawing/2014/main" id="{69DA6032-65A8-C92F-1BC2-F61CD729E483}"/>
              </a:ext>
            </a:extLst>
          </p:cNvPr>
          <p:cNvSpPr txBox="1">
            <a:spLocks noGrp="1"/>
          </p:cNvSpPr>
          <p:nvPr/>
        </p:nvSpPr>
        <p:spPr>
          <a:xfrm>
            <a:off x="1533193" y="474184"/>
            <a:ext cx="7688700" cy="53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pPr marL="0" lvl="0" indent="0" algn="l" rtl="0">
              <a:spcBef>
                <a:spcPts val="0"/>
              </a:spcBef>
              <a:spcAft>
                <a:spcPts val="0"/>
              </a:spcAft>
              <a:buNone/>
            </a:pPr>
            <a:r>
              <a:rPr lang="en" sz="2800" b="1" dirty="0">
                <a:solidFill>
                  <a:schemeClr val="dk2"/>
                </a:solidFill>
              </a:rPr>
              <a:t>References</a:t>
            </a:r>
            <a:endParaRPr sz="2800" b="1" dirty="0">
              <a:solidFill>
                <a:schemeClr val="dk2"/>
              </a:solidFill>
            </a:endParaRPr>
          </a:p>
        </p:txBody>
      </p:sp>
    </p:spTree>
    <p:extLst>
      <p:ext uri="{BB962C8B-B14F-4D97-AF65-F5344CB8AC3E}">
        <p14:creationId xmlns:p14="http://schemas.microsoft.com/office/powerpoint/2010/main" val="208102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2578F8-BEF3-F77D-0AB6-2BFC0ADCC27E}"/>
              </a:ext>
            </a:extLst>
          </p:cNvPr>
          <p:cNvSpPr/>
          <p:nvPr/>
        </p:nvSpPr>
        <p:spPr>
          <a:xfrm>
            <a:off x="9325" y="481"/>
            <a:ext cx="610253" cy="6857519"/>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940"/>
          </a:p>
        </p:txBody>
      </p:sp>
      <p:sp>
        <p:nvSpPr>
          <p:cNvPr id="3" name="TextBox 2">
            <a:extLst>
              <a:ext uri="{FF2B5EF4-FFF2-40B4-BE49-F238E27FC236}">
                <a16:creationId xmlns:a16="http://schemas.microsoft.com/office/drawing/2014/main" id="{75E140FF-4990-CC99-86DC-CE2A18C1E9CC}"/>
              </a:ext>
            </a:extLst>
          </p:cNvPr>
          <p:cNvSpPr txBox="1"/>
          <p:nvPr/>
        </p:nvSpPr>
        <p:spPr>
          <a:xfrm>
            <a:off x="4386313" y="2782092"/>
            <a:ext cx="3465581" cy="708207"/>
          </a:xfrm>
          <a:prstGeom prst="rect">
            <a:avLst/>
          </a:prstGeom>
          <a:noFill/>
        </p:spPr>
        <p:txBody>
          <a:bodyPr wrap="square" rtlCol="0">
            <a:spAutoFit/>
          </a:bodyPr>
          <a:lstStyle/>
          <a:p>
            <a:r>
              <a:rPr lang="en-US" sz="4002" dirty="0">
                <a:latin typeface="Calibri bold" panose="020F0702030404030204" pitchFamily="34" charset="0"/>
                <a:ea typeface="Calibri bold" panose="020F0702030404030204" pitchFamily="34" charset="0"/>
                <a:cs typeface="Calibri bold" panose="020F0702030404030204" pitchFamily="34" charset="0"/>
              </a:rPr>
              <a:t>Thank You</a:t>
            </a:r>
            <a:r>
              <a:rPr lang="en-US" sz="2911" dirty="0">
                <a:latin typeface="Calibri bold" panose="020F0702030404030204" pitchFamily="34" charset="0"/>
                <a:ea typeface="Calibri bold" panose="020F0702030404030204" pitchFamily="34" charset="0"/>
                <a:cs typeface="Calibri bold" panose="020F0702030404030204" pitchFamily="34" charset="0"/>
              </a:rPr>
              <a:t>           </a:t>
            </a:r>
            <a:endParaRPr lang="en-IN" sz="2911" dirty="0">
              <a:latin typeface="Calibri bold" panose="020F0702030404030204" pitchFamily="34" charset="0"/>
              <a:ea typeface="Calibri bold" panose="020F0702030404030204" pitchFamily="34" charset="0"/>
              <a:cs typeface="Calibri bold" panose="020F0702030404030204" pitchFamily="34" charset="0"/>
            </a:endParaRPr>
          </a:p>
        </p:txBody>
      </p:sp>
    </p:spTree>
    <p:extLst>
      <p:ext uri="{BB962C8B-B14F-4D97-AF65-F5344CB8AC3E}">
        <p14:creationId xmlns:p14="http://schemas.microsoft.com/office/powerpoint/2010/main" val="2338573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TotalTime>
  <Words>525</Words>
  <Application>Microsoft Office PowerPoint</Application>
  <PresentationFormat>Widescreen</PresentationFormat>
  <Paragraphs>119</Paragraphs>
  <Slides>17</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17</vt:i4>
      </vt:variant>
    </vt:vector>
  </HeadingPairs>
  <TitlesOfParts>
    <vt:vector size="31" baseType="lpstr">
      <vt:lpstr>맑은 고딕</vt:lpstr>
      <vt:lpstr>Arial</vt:lpstr>
      <vt:lpstr>Bahnschrift Light Condensed</vt:lpstr>
      <vt:lpstr>Calibri</vt:lpstr>
      <vt:lpstr>Calibri bold</vt:lpstr>
      <vt:lpstr>Calibri Light</vt:lpstr>
      <vt:lpstr>Lato</vt:lpstr>
      <vt:lpstr>Raleway</vt:lpstr>
      <vt:lpstr>Roboto</vt:lpstr>
      <vt:lpstr>Times New Roman</vt:lpstr>
      <vt:lpstr>Trebuchet MS</vt:lpstr>
      <vt:lpstr>Wingdings</vt:lpstr>
      <vt:lpstr>WordVisi_MSFontService</vt:lpstr>
      <vt:lpstr>Office Theme</vt:lpstr>
      <vt:lpstr>PowerPoint Presentation</vt:lpstr>
      <vt:lpstr>Table of Content</vt:lpstr>
      <vt:lpstr>PowerPoint Presentation</vt:lpstr>
      <vt:lpstr>  Our Services:</vt:lpstr>
      <vt:lpstr>Internship Planning</vt:lpstr>
      <vt:lpstr>PowerPoint Presentation</vt:lpstr>
      <vt:lpstr>UI : Platform Login page</vt:lpstr>
      <vt:lpstr>Admin Dashboard</vt:lpstr>
      <vt:lpstr>Patient Dashboard</vt:lpstr>
      <vt:lpstr>Patient Profile Page</vt:lpstr>
      <vt:lpstr>View Document Page</vt:lpstr>
      <vt:lpstr>Create Patient Request Page</vt:lpstr>
      <vt:lpstr>Technology Used</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Karmadipsinh Solanki</dc:creator>
  <cp:lastModifiedBy>Prashant</cp:lastModifiedBy>
  <cp:revision>8</cp:revision>
  <dcterms:created xsi:type="dcterms:W3CDTF">2024-01-12T18:11:30Z</dcterms:created>
  <dcterms:modified xsi:type="dcterms:W3CDTF">2024-02-23T17:56:01Z</dcterms:modified>
</cp:coreProperties>
</file>